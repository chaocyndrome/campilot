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5171c1ce10747dd" /><Relationship Type="http://schemas.openxmlformats.org/officeDocument/2006/relationships/extended-properties" Target="/docProps/app.xml" Id="Rbfef174d41df419a" /><Relationship Type="http://schemas.openxmlformats.org/officeDocument/2006/relationships/officeDocument" Target="/ppt/presentation.xml" Id="R58142ddcb3ed4c8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0b4bd3f226497c"/>
  </p:sldMasterIdLst>
  <p:notesMasterIdLst>
    <p:notesMasterId xmlns:r="http://schemas.openxmlformats.org/officeDocument/2006/relationships" r:id="R64a166378b914722"/>
  </p:notesMasterIdLst>
  <p:sldIdLst>
    <p:sldId xmlns:r="http://schemas.openxmlformats.org/officeDocument/2006/relationships" id="256" r:id="R9369cbc054ec4f18"/>
    <p:sldId xmlns:r="http://schemas.openxmlformats.org/officeDocument/2006/relationships" id="257" r:id="R6ba376a0844943fb"/>
    <p:sldId xmlns:r="http://schemas.openxmlformats.org/officeDocument/2006/relationships" id="258" r:id="R614e1dc19311409b"/>
    <p:sldId xmlns:r="http://schemas.openxmlformats.org/officeDocument/2006/relationships" id="259" r:id="Rffc48e407c9d4a77"/>
    <p:sldId xmlns:r="http://schemas.openxmlformats.org/officeDocument/2006/relationships" id="260" r:id="R70036d23336a4e04"/>
    <p:sldId xmlns:r="http://schemas.openxmlformats.org/officeDocument/2006/relationships" id="261" r:id="R06b1dd235ef4465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0b4bd3f226497c" /><Relationship Type="http://schemas.openxmlformats.org/officeDocument/2006/relationships/theme" Target="/ppt/theme/theme1.xml" Id="R2ae1127e0e4d4754" /><Relationship Type="http://schemas.openxmlformats.org/officeDocument/2006/relationships/notesMaster" Target="/ppt/notesMasters/notesMaster1.xml" Id="R64a166378b914722" /><Relationship Type="http://schemas.openxmlformats.org/officeDocument/2006/relationships/presProps" Target="/ppt/presProps.xml" Id="Rd9acb7ec4e794315" /><Relationship Type="http://schemas.openxmlformats.org/officeDocument/2006/relationships/viewProps" Target="/ppt/viewProps.xml" Id="R8384dc095f294189" /><Relationship Type="http://schemas.openxmlformats.org/officeDocument/2006/relationships/tableStyles" Target="/ppt/tableStyles.xml" Id="Rba3b887087364542" /><Relationship Type="http://schemas.openxmlformats.org/officeDocument/2006/relationships/slide" Target="/ppt/slides/slide1.xml" Id="R9369cbc054ec4f18" /><Relationship Type="http://schemas.openxmlformats.org/officeDocument/2006/relationships/slide" Target="/ppt/slides/slide2.xml" Id="R6ba376a0844943fb" /><Relationship Type="http://schemas.openxmlformats.org/officeDocument/2006/relationships/slide" Target="/ppt/slides/slide3.xml" Id="R614e1dc19311409b" /><Relationship Type="http://schemas.openxmlformats.org/officeDocument/2006/relationships/slide" Target="/ppt/slides/slide4.xml" Id="Rffc48e407c9d4a77" /><Relationship Type="http://schemas.openxmlformats.org/officeDocument/2006/relationships/slide" Target="/ppt/slides/slide5.xml" Id="R70036d23336a4e04" /><Relationship Type="http://schemas.openxmlformats.org/officeDocument/2006/relationships/slide" Target="/ppt/slides/slide6.xml" Id="R06b1dd235ef446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7a3ce907d254d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12539d654840c1" /><Relationship Type="http://schemas.openxmlformats.org/officeDocument/2006/relationships/notesMaster" Target="/ppt/notesMasters/notesMaster1.xml" Id="Rbfb1c48fd2d34f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adcb2670a34be5" /><Relationship Type="http://schemas.openxmlformats.org/officeDocument/2006/relationships/notesMaster" Target="/ppt/notesMasters/notesMaster1.xml" Id="R5607538b636346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b72d97797d34bc4" /><Relationship Type="http://schemas.openxmlformats.org/officeDocument/2006/relationships/notesMaster" Target="/ppt/notesMasters/notesMaster1.xml" Id="Ra6ffe43c567c432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ca2081d43f4a30" /><Relationship Type="http://schemas.openxmlformats.org/officeDocument/2006/relationships/notesMaster" Target="/ppt/notesMasters/notesMaster1.xml" Id="R5af814eeb59a4c8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54a81d9ef314f49" /><Relationship Type="http://schemas.openxmlformats.org/officeDocument/2006/relationships/notesMaster" Target="/ppt/notesMasters/notesMaster1.xml" Id="Re51ccea995534d3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f35f8087c44c9d" /><Relationship Type="http://schemas.openxmlformats.org/officeDocument/2006/relationships/notesMaster" Target="/ppt/notesMasters/notesMaster1.xml" Id="R128bf2def11841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开场先说明 Campilot：它不是复杂日历，而是帮助学生判断任务风险。这里展示的是实际运行的今日驾驶舱，后面视频会展开功能演示，PPT 只负责搭起价值和技术主线。预计 18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第二页先讲技术栈：前端用 HTML/CSS/JS，后端 Flask，本地 CSV/JSON 存储，AI 部分是 pandas 和 scikit-learn。这里强调取舍：项目没有做很重的账号或云服务，而是把精力放在任务风险判断和反馈闭环。预计 20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这一页讲设计思路：学生的问题不是没有日历，而是任务来源分散、截止不统一、优先级难判断。所以 Campilot 的设计不是替用户排满时间，而是用 AI 提醒关注重点，并通过完成反馈形成正循环。预计 22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这一页不用讲太久，直接切入视频。建议视频顺序是控制中枢、今日驾驶舱、本周任务地图、后勤补给，正好对应任务录入、推荐、时间线和激励反馈。预计口头过渡 5 秒，视频约 3 分钟。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最后补技术实现：新增任务时构造特征，调用预测函数得到优先级和原因；页面再按优先级、DDL、耗时排序推荐。完成任务后 storage.py 计算积分，更新统计，让 AI 判断和激励反馈接到同一条数据链上。预计 30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最后用这一句收束：Campilot 让 AI 从模型结果进入真实学习场景。停顿一下，结束答辩开场。预计 8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f07b2ec04c40f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3fc2a60c47f4639" /><Relationship Type="http://schemas.openxmlformats.org/officeDocument/2006/relationships/slideLayout" Target="/ppt/slideLayouts/slideLayout2.xml" Id="Rc647793f89a5472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47793f89a5472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3202b0e14548c1" /><Relationship Type="http://schemas.openxmlformats.org/officeDocument/2006/relationships/image" Target="/ppt/media/image.png" Id="Rd4da66d2276c40d8" /><Relationship Type="http://schemas.openxmlformats.org/officeDocument/2006/relationships/image" Target="/ppt/media/image2.png" Id="R390873e981bd430e" /><Relationship Type="http://schemas.openxmlformats.org/officeDocument/2006/relationships/notesSlide" Target="/ppt/notesSlides/notesSlide1.xml" Id="R1b2e83adfa3943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57125691bd4175" /><Relationship Type="http://schemas.openxmlformats.org/officeDocument/2006/relationships/notesSlide" Target="/ppt/notesSlides/notesSlide2.xml" Id="Refc0a8261e9c4f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8f1d916cd944fd" /><Relationship Type="http://schemas.openxmlformats.org/officeDocument/2006/relationships/notesSlide" Target="/ppt/notesSlides/notesSlide3.xml" Id="Rb06257c9b8344b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15aa64a2914ea9" /><Relationship Type="http://schemas.openxmlformats.org/officeDocument/2006/relationships/image" Target="/ppt/media/image3.png" Id="R4b3565c48144427d" /><Relationship Type="http://schemas.openxmlformats.org/officeDocument/2006/relationships/image" Target="/ppt/media/image4.png" Id="R708686f171ef4850" /><Relationship Type="http://schemas.openxmlformats.org/officeDocument/2006/relationships/image" Target="/ppt/media/image5.png" Id="R0a077151bf3f44b8" /><Relationship Type="http://schemas.openxmlformats.org/officeDocument/2006/relationships/image" Target="/ppt/media/image6.png" Id="R9c6707e2ac8049c0" /><Relationship Type="http://schemas.openxmlformats.org/officeDocument/2006/relationships/notesSlide" Target="/ppt/notesSlides/notesSlide4.xml" Id="Rae39c08458e84c0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b4110f9b284e50" /><Relationship Type="http://schemas.openxmlformats.org/officeDocument/2006/relationships/notesSlide" Target="/ppt/notesSlides/notesSlide5.xml" Id="R67b8fdb384f347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23f94ad0b74518" /><Relationship Type="http://schemas.openxmlformats.org/officeDocument/2006/relationships/notesSlide" Target="/ppt/notesSlides/notesSlide6.xml" Id="Ra03e7600c43a47b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51D996-F653-4EB7-9A25-B26FDB93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7E249-B9BA-42DD-B4F0-051DCDF9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0"/>
            <a:ext cx="3600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B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71AD74-2552-48E3-95BC-9A15EE0D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6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9702C-10A9-45A0-B4FF-2AC27B81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2395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3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5CEC1C-100F-4884-A4C7-60851BC87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45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9B95B4C-926A-4A44-A8A3-4B98F266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4603321-F398-4DF9-887E-81C0BDC1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AI COURSE DEFENSE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da66d2276c40d8"/>
          <a:stretch xmlns:a="http://schemas.openxmlformats.org/drawingml/2006/main"/>
        </p:blipFill>
        <p:spPr>
          <a:xfrm xmlns:a="http://schemas.openxmlformats.org/drawingml/2006/main">
            <a:off x="666750" y="762000"/>
            <a:ext cx="2476500" cy="61912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64381E-ADE6-4173-AC5C-A5A8E8A6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495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7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大学生任务管理的</a:t>
            </a:r>
          </a:p>
          <a:p xmlns:a="http://schemas.openxmlformats.org/drawingml/2006/main">
            <a:pPr algn="l">
              <a:defRPr sz="307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307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智能副驾驶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389B60-D7F7-4E9C-BE74-8305FA66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52700"/>
            <a:ext cx="5143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用优先级预测与积分激励，帮助学生识别任务风险、安排关注重点。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AB3977-60E1-4675-A153-A3FD94DFE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99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B33"/>
          </a:solidFill>
          <a:ln xmlns:a="http://schemas.openxmlformats.org/drawingml/2006/main" w="9525">
            <a:solidFill>
              <a:srgbClr val="1E3A5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400BC6-57CF-4326-9B92-5D610404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05200"/>
            <a:ext cx="990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任务录入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B7C65B-20DE-44FD-8E84-E1675BAD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EE869B-9A53-4B81-8332-7FB3B5B6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390900"/>
            <a:ext cx="99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63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978484-0CAE-4951-B40C-C1F4FDB4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505200"/>
            <a:ext cx="990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优先级预测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35DBD6-5F01-492C-9009-C1D5FC44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76625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1B95A1-4FE0-4B09-B6FF-8132B3D7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390900"/>
            <a:ext cx="99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B33"/>
          </a:solidFill>
          <a:ln xmlns:a="http://schemas.openxmlformats.org/drawingml/2006/main" w="9525">
            <a:solidFill>
              <a:srgbClr val="1E3A5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F4CB9E-0F4D-483C-9B9D-FB265BEC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05200"/>
            <a:ext cx="990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今日/本周建议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9D10ED-E875-4041-B77E-A3D75E6B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476625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D2755C-E5D1-486B-8714-ECEB6D17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390900"/>
            <a:ext cx="990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B33"/>
          </a:solidFill>
          <a:ln xmlns:a="http://schemas.openxmlformats.org/drawingml/2006/main" w="9525">
            <a:solidFill>
              <a:srgbClr val="1E3A5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483D1F-73A6-4FEC-A236-3ABEE5D2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505200"/>
            <a:ext cx="990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完成反馈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C874CD-E630-431E-8B4C-1D4AD260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1390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B33"/>
          </a:solidFill>
          <a:ln xmlns:a="http://schemas.openxmlformats.org/drawingml/2006/main" w="9525">
            <a:solidFill>
              <a:srgbClr val="1E3A5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411BF4-8B71-4BBB-8560-0C76E24D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DD4B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DD4BF"/>
                </a:solidFill>
                <a:latin typeface="Aptos Display"/>
                <a:ea typeface="Aptos Display"/>
                <a:cs typeface="Aptos Display"/>
              </a:rPr>
              <a:t>43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DA4649-C21E-4223-8A5E-92066917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1085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本地任务记录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A41662-A533-4CF6-9267-7C357CF6F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286250"/>
            <a:ext cx="1390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B33"/>
          </a:solidFill>
          <a:ln xmlns:a="http://schemas.openxmlformats.org/drawingml/2006/main" w="9525">
            <a:solidFill>
              <a:srgbClr val="1E3A5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22E70A-65F9-4BBF-BB02-ECA02588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3815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B82F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B82F6"/>
                </a:solidFill>
                <a:latin typeface="Aptos Display"/>
                <a:ea typeface="Aptos Display"/>
                <a:cs typeface="Aptos Display"/>
              </a:rPr>
              <a:t>800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11A39D-B465-4058-9B5A-C69E9DF7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00600"/>
            <a:ext cx="1085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优先级样本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DB5997-CEBB-457D-9375-15F0EEFD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86250"/>
            <a:ext cx="13906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B33"/>
          </a:solidFill>
          <a:ln xmlns:a="http://schemas.openxmlformats.org/drawingml/2006/main" w="9525">
            <a:solidFill>
              <a:srgbClr val="1E3A5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F32BB7-07A0-46EB-810F-B98D10B0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381500"/>
            <a:ext cx="1085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8B5CF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B5CF6"/>
                </a:solidFill>
                <a:latin typeface="Aptos Display"/>
                <a:ea typeface="Aptos Display"/>
                <a:cs typeface="Aptos Display"/>
              </a:rPr>
              <a:t>2min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DC69DC-29B2-4709-A143-08D0F129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800600"/>
            <a:ext cx="1085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PPT 开场节奏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570672-09F4-4306-AB63-2BD1268B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876300"/>
            <a:ext cx="5095875" cy="3495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629"/>
          </a:solidFill>
          <a:ln xmlns:a="http://schemas.openxmlformats.org/drawingml/2006/main" w="9525">
            <a:solidFill>
              <a:srgbClr val="1F4B76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0873e981bd430e"/>
          <a:srcRect xmlns:a="http://schemas.openxmlformats.org/drawingml/2006/main" l="20" t="0" r="2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1009650"/>
            <a:ext cx="4829175" cy="3019425"/>
          </a:xfrm>
          <a:prstGeom xmlns:a="http://schemas.openxmlformats.org/drawingml/2006/main" prst="rect">
            <a:avLst/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ED1A038-167F-47AE-90E0-B919CA04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33850"/>
            <a:ext cx="48291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真实运行页面：今日驾驶舱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D33A87-CFCB-4F81-88D2-FA964B8E6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81550"/>
            <a:ext cx="4095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E39"/>
          </a:solidFill>
          <a:ln xmlns:a="http://schemas.openxmlformats.org/drawingml/2006/main" w="9525">
            <a:solidFill>
              <a:srgbClr val="2A4D7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9C562D-02CC-4BB9-96C1-747A1513B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14900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核心定位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090F4E2-2940-44EE-B80E-330EDCA4F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914900"/>
            <a:ext cx="266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不是复杂日历，而是让学生看见“现在最该关注什么”。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DDF816-FB03-4294-9848-87ABE998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8425"/>
            <a:ext cx="762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F8EA8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F8EA8"/>
                </a:solidFill>
                <a:latin typeface="Aptos"/>
                <a:ea typeface="Aptos"/>
                <a:cs typeface="Aptos"/>
              </a:rPr>
              <a:t>Source: app.py, templates/today.html, data/*.csv, local screenshot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70A3BB8-57A3-4FA4-A98B-4AC43E6F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F8E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F8E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040685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5F649C-F1D0-4B31-BD48-616956008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E479D2-7871-4A0A-8BBA-1EC539AF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0"/>
            <a:ext cx="3600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B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D7F87B-A58E-4785-8017-6EF86854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6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F5B91-C1C9-4132-A8C9-F0A4CE0AF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2395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3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0D88F7-71B1-4BA1-82B6-36F68AF0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45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114D535-410E-429A-A506-8E13A549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45A26D4-8509-4716-BDA3-09F5D95EA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B82F6"/>
                </a:solidFill>
                <a:latin typeface="Aptos"/>
                <a:ea typeface="Aptos"/>
                <a:cs typeface="Aptos"/>
              </a:rPr>
              <a:t>TECH STACK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4CAE8F-CF80-49B4-B68C-CC1042218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001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技术栈：轻量 Web + 本地数据 + AI 分类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385493-648D-453A-8ED3-45DB4C2D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围绕课程项目目标，选择能快速交互、可解释、可本地运行的实现组合。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63DAC8-8061-4EF6-BEF8-6A699D88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E36"/>
          </a:solidFill>
          <a:ln xmlns:a="http://schemas.openxmlformats.org/drawingml/2006/main" w="9525">
            <a:solidFill>
              <a:srgbClr val="254D7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0CFCF-ECE4-49D1-9AC6-FCAB15E8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1F89EF-885E-478A-BA4C-F0C26131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479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前端页面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B563B6-2258-4E56-B6CB-D6874615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238375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HTML / CSS / JavaScript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992CE7-B321-47BD-A8AB-83C27180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76500"/>
            <a:ext cx="314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templates + static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B8E735-33C7-4891-AA7E-3DF5AAC8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E36"/>
          </a:solidFill>
          <a:ln xmlns:a="http://schemas.openxmlformats.org/drawingml/2006/main" w="9525">
            <a:solidFill>
              <a:srgbClr val="254D7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1F2EF7-9444-4778-B78E-E2759402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D3E1A5-56D4-4EC7-835C-C0391BA51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908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应用服务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22D916-EA01-42F3-90CB-BB5ACBF8F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81325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B82F6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3B82F6"/>
                </a:solidFill>
                <a:latin typeface="PingFang SC"/>
                <a:ea typeface="PingFang SC"/>
                <a:cs typeface="PingFang SC"/>
              </a:rPr>
              <a:t>Python + Flask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40EE06-1172-4E46-BA7A-23176153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19450"/>
            <a:ext cx="314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路由、表单、页面上下文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50571C-772C-4925-8FE9-CBEE2EB9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E36"/>
          </a:solidFill>
          <a:ln xmlns:a="http://schemas.openxmlformats.org/drawingml/2006/main" w="9525">
            <a:solidFill>
              <a:srgbClr val="254D7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80A5BA-3E49-43EA-884C-7D2CE9D5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4C7230-7AFB-4160-A365-873E05EB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338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数据存储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20DFAD-C940-4DF0-9827-425FCA21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724275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B5CF6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8B5CF6"/>
                </a:solidFill>
                <a:latin typeface="PingFang SC"/>
                <a:ea typeface="PingFang SC"/>
                <a:cs typeface="PingFang SC"/>
              </a:rPr>
              <a:t>CSV / JSON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CF4BC8-6B9D-4F8F-9A0A-6D16F9A5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62400"/>
            <a:ext cx="314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任务、安排、积分、兑换记录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A83255-EF9B-45D6-9E65-491EF688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8150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E36"/>
          </a:solidFill>
          <a:ln xmlns:a="http://schemas.openxmlformats.org/drawingml/2006/main" w="9525">
            <a:solidFill>
              <a:srgbClr val="254D7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5BF154-CDF6-4E27-A4CE-BCD85506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91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FAA1B2-A36D-4208-916D-1F4C10E6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767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AI 模块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1EA083-A29C-422A-8C8B-1B0AF604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467225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9E0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59E0B"/>
                </a:solidFill>
                <a:latin typeface="PingFang SC"/>
                <a:ea typeface="PingFang SC"/>
                <a:cs typeface="PingFang SC"/>
              </a:rPr>
              <a:t>pandas + scikit-learn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577D66-2854-4969-9045-62294245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314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特征处理 + 优先级分类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D3408E-7253-414D-A0E7-195261317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47900"/>
            <a:ext cx="4476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AD2EDF-E487-46F9-8007-617C0720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工程取舍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C9CD79-CC6E-4406-B84B-29564A0C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57500"/>
            <a:ext cx="361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不引入复杂账号系统或云服务；把重点放在“任务风险判断”与“完成反馈闭环”。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302624-EBED-4424-8B64-FAA53052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43350"/>
            <a:ext cx="15049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B33"/>
          </a:solidFill>
          <a:ln xmlns:a="http://schemas.openxmlformats.org/drawingml/2006/main" w="9525">
            <a:solidFill>
              <a:srgbClr val="1E3A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7843AA-A92C-4B79-AED7-8375E08F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038600"/>
            <a:ext cx="1200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B82F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B82F6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89CDD5-FD2D-40EE-88AB-53C8B359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4577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网页端可交互运行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91B080-A575-436F-9796-23F2A562D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43350"/>
            <a:ext cx="13144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B33"/>
          </a:solidFill>
          <a:ln xmlns:a="http://schemas.openxmlformats.org/drawingml/2006/main" w="9525">
            <a:solidFill>
              <a:srgbClr val="1E3A5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D5698C-B18A-45F4-88CF-6EA071E9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38600"/>
            <a:ext cx="1009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DD4B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DD4BF"/>
                </a:solidFill>
                <a:latin typeface="Aptos Display"/>
                <a:ea typeface="Aptos Display"/>
                <a:cs typeface="Aptos Display"/>
              </a:rPr>
              <a:t>CSV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0D43EE4-A4AC-49EC-85F6-BA2CA8E4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457700"/>
            <a:ext cx="1009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本地轻量存储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1A75CC-5F4B-435B-B1D1-5B41123C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943350"/>
            <a:ext cx="13144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B33"/>
          </a:solidFill>
          <a:ln xmlns:a="http://schemas.openxmlformats.org/drawingml/2006/main" w="9525">
            <a:solidFill>
              <a:srgbClr val="1E3A5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ADCB1E-48D6-40EB-97C4-0F677F2DB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038600"/>
            <a:ext cx="1009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8B5CF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B5CF6"/>
                </a:solidFill>
                <a:latin typeface="Aptos Display"/>
                <a:ea typeface="Aptos Display"/>
                <a:cs typeface="Aptos Display"/>
              </a:rPr>
              <a:t>RF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DE39505-7E11-41BF-95D6-D7146499C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457700"/>
            <a:ext cx="1009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随机森林分类器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A4B3061-025B-44EF-AC7B-2A351609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8425"/>
            <a:ext cx="762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F8EA8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F8EA8"/>
                </a:solidFill>
                <a:latin typeface="Aptos"/>
                <a:ea typeface="Aptos"/>
                <a:cs typeface="Aptos"/>
              </a:rPr>
              <a:t>Source: requirements.txt, app.py, storage.py, model.py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2AEA72-55C5-4750-8453-91DED560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F8E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F8EA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4130186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DCF3F5-0569-4AFE-9F50-DECB86E4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7E2D30-0A09-419D-BEAB-4F5513A5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0"/>
            <a:ext cx="3600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B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E4AC4A-E731-4D98-8E1E-CDCC08A0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6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7150BF-EC40-4E0A-85D1-0BD68DF1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2395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3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D8D157-B364-489C-BACD-1FDC74E1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45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D557B34-BE71-4900-AAD6-59CD56F0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8D0AA31-5139-464D-95D4-604EC588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CF6"/>
                </a:solidFill>
                <a:latin typeface="Aptos"/>
                <a:ea typeface="Aptos"/>
                <a:cs typeface="Aptos"/>
              </a:rPr>
              <a:t>DESIGN THINKING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A473DC-6DBD-4378-BCB1-9A1E788C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001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设计思路：让 AI 提醒关注，而不是替用户排满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0A1751-54C0-4999-BD99-AC57B0A64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项目核心是任务录入、优先级预测、建议展示、完成反馈和积分激励。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543CDE-96F3-4091-BE9D-B7540160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9E0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F59E0B"/>
                </a:solidFill>
                <a:latin typeface="PingFang SC"/>
                <a:ea typeface="PingFang SC"/>
                <a:cs typeface="PingFang SC"/>
              </a:rPr>
              <a:t>学生痛点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E8227B-A925-402D-97B5-073F0D90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07645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设计回应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0E8357-1E72-4DEC-9F64-6C2F130E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3790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757B6C-8FE3-4B57-86F3-53DB3598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任务来源分散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A0098-34F3-4942-87CC-CD836804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527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课程、作业、实验、项目混在一起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42CE3E-C149-44C0-BA27-A9CCE2D4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86150"/>
            <a:ext cx="3790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AE36C3-5C0A-453C-8125-454499B9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004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DDL 不统一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0C1504-459D-4948-8DC6-1217B513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671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临近截止时才发现压力堆积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9843AD-DBB6-41E1-A8DE-A07AEF0F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00550"/>
            <a:ext cx="3790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829F9A-0079-4903-BE46-5705A206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148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优先级难判断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14B32A-E1F5-4822-A586-5D59697C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815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耗时、难度、重要程度很难同时比较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204BA5-B540-403F-B96C-0A72C1B2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71750"/>
            <a:ext cx="3790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53B"/>
          </a:solidFill>
          <a:ln xmlns:a="http://schemas.openxmlformats.org/drawingml/2006/main" w="9525">
            <a:solidFill>
              <a:srgbClr val="266B8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99BE37-ABFA-4ECA-AAA5-6314BD99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860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轻量输入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84F843-40C9-4524-8E69-E7C156D2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952750"/>
            <a:ext cx="3105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尽量少填，但保留关键特征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D9C14D-C50E-42D8-8ED9-4362F1BD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86150"/>
            <a:ext cx="3790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53B"/>
          </a:solidFill>
          <a:ln xmlns:a="http://schemas.openxmlformats.org/drawingml/2006/main" w="9525">
            <a:solidFill>
              <a:srgbClr val="266B8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CF9EAA-ABC7-450B-B8D3-5F1BCE77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6004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可解释推荐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8C47AD-5D84-4239-8E4A-549113AEA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67150"/>
            <a:ext cx="3105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不仅给等级，也说明原因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480F04-87F9-46CD-8557-76F8EFE1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00550"/>
            <a:ext cx="3790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53B"/>
          </a:solidFill>
          <a:ln xmlns:a="http://schemas.openxmlformats.org/drawingml/2006/main" w="9525">
            <a:solidFill>
              <a:srgbClr val="266B8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532523-17F0-4221-9C3F-08E7FFD9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5148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正反馈闭环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68D508-B7FC-45C2-A74F-9372B59C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81550"/>
            <a:ext cx="3105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完成任务后给积分与成就感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294DC5-83D5-4CCA-AFA6-C90ECAC1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705100"/>
            <a:ext cx="14668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B33"/>
          </a:solidFill>
          <a:ln xmlns:a="http://schemas.openxmlformats.org/drawingml/2006/main" w="9525">
            <a:solidFill>
              <a:srgbClr val="1E3A5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B2D910-E3DA-41E3-B22C-AD8053DF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952750"/>
            <a:ext cx="1009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核心判断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00A799-99CC-4BFB-8144-7CE3DFB76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390900"/>
            <a:ext cx="10096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谁更急？</a:t>
            </a:r>
          </a:p>
          <a:p xmlns:a="http://schemas.openxmlformats.org/drawingml/2006/main">
            <a:pPr algn="ctr">
              <a:defRPr sz="165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为什么？</a:t>
            </a:r>
          </a:p>
          <a:p xmlns:a="http://schemas.openxmlformats.org/drawingml/2006/main">
            <a:pPr algn="ctr">
              <a:defRPr sz="165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做完后如何继续？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9318F1-F745-42D1-AF41-88A9C33F3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4290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8B5CF6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8B5CF6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57B01F-E6D2-4E1B-9700-AA5F011B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290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1F87D0-A79B-4847-AE81-B04D8DAD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这一页回答“为什么这个选题有价值”，具体按钮留给视频演示。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8240AE-D47E-43FE-885D-436A0EBB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8425"/>
            <a:ext cx="762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F8EA8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F8EA8"/>
                </a:solidFill>
                <a:latin typeface="Aptos"/>
                <a:ea typeface="Aptos"/>
                <a:cs typeface="Aptos"/>
              </a:rPr>
              <a:t>Source: project routes, storage workflow, templates/manage/today/rewards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A69BDE-3D5D-44ED-8532-D9A84368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F8E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F8EA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1383635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DBD5E9-3603-47C0-8623-EF5129B08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655E18-9775-4C5E-A1BF-B0181071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0"/>
            <a:ext cx="3600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B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BA7AB7-7E5E-4B07-850F-0999DA33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6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F1C826-3D3F-45D0-8CE8-B9F13A7D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2395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3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718D79-17AE-42DC-8EDE-09632977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45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3135A056-0912-4ABC-BC47-04DAD2BF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7699150-DD8E-4171-8007-02AEBD5E1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DD4B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D4BF"/>
                </a:solidFill>
                <a:latin typeface="Aptos"/>
                <a:ea typeface="Aptos"/>
                <a:cs typeface="Aptos"/>
              </a:rPr>
              <a:t>FUNCTION 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FFD63-AA83-4421-A63B-DEF1E3E1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001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功能展示：播放演示视频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1D324D-447B-4EB8-90DA-FAE4A6A1C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这一页作为视频入口，PPT 不展开按钮细节。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BD4AA7-9A1A-46CE-A52B-4C5BD052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47815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629"/>
          </a:solidFill>
          <a:ln xmlns:a="http://schemas.openxmlformats.org/drawingml/2006/main" w="9525">
            <a:solidFill>
              <a:srgbClr val="1F4B7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606E9E-6FF5-43DE-A547-03EDC3B7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24150"/>
            <a:ext cx="3943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在此播放展示视频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0D910F-0BA3-47F7-8BA9-5F7BC1649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718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建议时长约 3 分钟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631B53-AD09-489F-B228-6804E881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43350"/>
            <a:ext cx="3943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演示重点：录入任务 → 查看推荐 → 本周时间线 → 完成与积分反馈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31C99C-4C8B-40F2-9759-653E86E6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57400"/>
            <a:ext cx="1638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629"/>
          </a:solidFill>
          <a:ln xmlns:a="http://schemas.openxmlformats.org/drawingml/2006/main" w="9525">
            <a:solidFill>
              <a:srgbClr val="1F4B76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3565c48144427d"/>
          <a:srcRect xmlns:a="http://schemas.openxmlformats.org/drawingml/2006/main" l="255" t="0" r="2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0" y="2133600"/>
            <a:ext cx="1485900" cy="93345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8AB927-9B0D-4831-BE90-A42D2E9C7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4325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控制中枢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84DE58-43F4-48DD-9BC0-0118BBB9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57400"/>
            <a:ext cx="1638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629"/>
          </a:solidFill>
          <a:ln xmlns:a="http://schemas.openxmlformats.org/drawingml/2006/main" w="9525">
            <a:solidFill>
              <a:srgbClr val="1F4B76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686f171ef4850"/>
          <a:srcRect xmlns:a="http://schemas.openxmlformats.org/drawingml/2006/main" l="255" t="0" r="2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0550" y="2133600"/>
            <a:ext cx="1485900" cy="93345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587792-0007-4451-AB40-AC278D7F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4325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今日驾驶舱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A334E6-F2BA-4719-894B-ADB1EAEA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76650"/>
            <a:ext cx="1638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629"/>
          </a:solidFill>
          <a:ln xmlns:a="http://schemas.openxmlformats.org/drawingml/2006/main" w="9525">
            <a:solidFill>
              <a:srgbClr val="1F4B76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077151bf3f44b8"/>
          <a:srcRect xmlns:a="http://schemas.openxmlformats.org/drawingml/2006/main" l="255" t="0" r="2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0" y="3752850"/>
            <a:ext cx="1485900" cy="933450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B12152-5E8D-41A2-AAA3-062BAD5C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6250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本周任务地图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A4A619-9F7C-484B-AA20-A5E2CFE7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76650"/>
            <a:ext cx="1638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629"/>
          </a:solidFill>
          <a:ln xmlns:a="http://schemas.openxmlformats.org/drawingml/2006/main" w="9525">
            <a:solidFill>
              <a:srgbClr val="1F4B76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707e2ac8049c0"/>
          <a:srcRect xmlns:a="http://schemas.openxmlformats.org/drawingml/2006/main" l="255" t="0" r="2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0550" y="3752850"/>
            <a:ext cx="1485900" cy="93345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C42A35-6BA4-4433-8DD5-4CC339AE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76250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后勤补给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445B0E-D47E-493C-8DE7-5CD7F652B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574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47BD01-4FC9-4B0F-9051-79CE9372C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4574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2295F0-02EE-4A8E-8EBB-DE2F5FAF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767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F7740A-126A-47CF-8D46-881AD635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767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E0E03E-865A-492C-BBE9-62EE3C38F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8425"/>
            <a:ext cx="762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F8EA8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F8EA8"/>
                </a:solidFill>
                <a:latin typeface="Aptos"/>
                <a:ea typeface="Aptos"/>
                <a:cs typeface="Aptos"/>
              </a:rPr>
              <a:t>Source: local screenshots from /manage, /today, /timeline, /rewards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62E8FA-0625-417A-AF6B-2F0EB331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F8E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F8EA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246009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DC1F9B-46EB-4858-99A9-CADC50DE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ED46DE-CC36-4182-8EDE-ABE6B4B4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0"/>
            <a:ext cx="3600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B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E4649F-4E6A-4943-B53D-E79471E2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6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791921-9664-471C-9ECF-EEDCEAD0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2395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3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DF5468-CE61-4427-B6BA-27A9997B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45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2F2CBDD-0B71-498A-A391-F419A188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10EC1C9-D785-4189-A0CA-CF64F20C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IMPLEMENTATION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1F2645-A820-41B1-8392-D8016670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8001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具体实现方式：预测、解释与反馈写进同一条数据链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B1CBFE-6F96-434C-BE54-6956D1355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AI 模块不是单独展示结果，而是进入新增、刷新、推荐和完成任务的实际流程。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5B3ACC-0AE2-4FE4-9407-25F4DE8D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E36"/>
          </a:solidFill>
          <a:ln xmlns:a="http://schemas.openxmlformats.org/drawingml/2006/main" w="9525">
            <a:solidFill>
              <a:srgbClr val="254D7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84A2A9-A264-497A-BAEC-0F13044B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3840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21A17C-48D8-4E80-865D-D818C87E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241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任务表单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BF4ECD-94C7-4BE6-9F73-670C0AF6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908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DDL / 耗时 / 难度 / 重要度 / 类型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BE7873-DDFD-4B5E-B68E-08D16DEB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667000"/>
            <a:ext cx="38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4BE299-E52B-4E35-9BB8-F62F2650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2669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84A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1E52E5-373C-456C-B6C7-27D9806C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43840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CDE150-DC31-4F56-A351-458FD427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241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预测函数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F647A3-56BF-4FCF-A8B6-87C24E68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9908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predict_priority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0C209E-26AC-4670-8919-A3D25B3E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67000"/>
            <a:ext cx="38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0E5CAE-F2C3-46E5-B1A6-9B3D4BDA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669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84A"/>
          </a:solidFill>
          <a:ln xmlns:a="http://schemas.openxmlformats.org/drawingml/2006/main" w="9525">
            <a:solidFill>
              <a:srgbClr val="2DD4B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2D9A48-7C4E-4255-9A6F-386E848E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3840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5686F3-FC7B-4EEC-B135-16646F26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解释规则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A94EB6-D307-4424-A6F8-49A2C73E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908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压力评分 + 原因文本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5AFBB0-AF2D-48A3-ABB4-DCD4A075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667000"/>
            <a:ext cx="38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78D8A9-3493-477B-B1F8-DAADA69B9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669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E36"/>
          </a:solidFill>
          <a:ln xmlns:a="http://schemas.openxmlformats.org/drawingml/2006/main" w="9525">
            <a:solidFill>
              <a:srgbClr val="254D7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3AF7F0-A86F-40CE-8CBB-0F75CFE9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3840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D09C2F-C16A-410F-808C-39AB97E2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7241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页面推荐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4A5ECC-BEB9-4F6F-87C1-C65F51581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908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今日关注 + 时间线窗口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2983D1-F65C-4E1E-AD90-D37087D52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67000"/>
            <a:ext cx="38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7D28D4-A0B0-4CEB-9599-F8DE2945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669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E36"/>
          </a:solidFill>
          <a:ln xmlns:a="http://schemas.openxmlformats.org/drawingml/2006/main" w="9525">
            <a:solidFill>
              <a:srgbClr val="254D7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9D697B-5BC1-4344-96F6-8FB66536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3840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4F889D-54AA-4F25-B972-01E6E17B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7241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完成反馈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5ACFE7-BB81-4DA3-8178-73F9D9AA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908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积分 + 成就 + 统计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6A9F67-F9AF-4BEA-A067-665F37A1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2838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BBB9B04-D101-4FA1-BBDC-392C9E9C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100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模型训练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CB7BF0-7716-47EC-BFF8-6981A6AE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52950"/>
            <a:ext cx="2209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model.py 使用 Pipeline、OneHotEncoder、RandomForestClassifier；数据集 800 条。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893334-C04A-45A5-A3AB-D00F810B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00500"/>
            <a:ext cx="2838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671D4D-C089-443A-9FE3-3E785450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100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5CF6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8B5CF6"/>
                </a:solidFill>
                <a:latin typeface="PingFang SC"/>
                <a:ea typeface="PingFang SC"/>
                <a:cs typeface="PingFang SC"/>
              </a:rPr>
              <a:t>可解释校准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1E8108-BD83-42AA-9C56-AC8A7117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52950"/>
            <a:ext cx="2209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priority.py 计算压力评分，并把截止时间、耗时、难度等转成推荐理由。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E1BE832-EA70-40C9-86A4-1DB50363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000500"/>
            <a:ext cx="2838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E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4DE6840-10E2-4142-8C3C-C3E54047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2100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9E0B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59E0B"/>
                </a:solidFill>
                <a:latin typeface="PingFang SC"/>
                <a:ea typeface="PingFang SC"/>
                <a:cs typeface="PingFang SC"/>
              </a:rPr>
              <a:t>业务闭环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455E74C-F95C-40FF-8184-A559ED36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552950"/>
            <a:ext cx="2209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storage.py 保存任务状态，完成后计算积分并更新 user_stats.json。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89498B6-D18A-4FEC-8452-A54ABC29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10200"/>
            <a:ext cx="1428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B33"/>
          </a:solidFill>
          <a:ln xmlns:a="http://schemas.openxmlformats.org/drawingml/2006/main" w="9525">
            <a:solidFill>
              <a:srgbClr val="1E3A5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C8CE1E-9ACC-4E00-96D3-447DBA6FC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505450"/>
            <a:ext cx="1123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DD4B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DD4BF"/>
                </a:solidFill>
                <a:latin typeface="Aptos Display"/>
                <a:ea typeface="Aptos Display"/>
                <a:cs typeface="Aptos Display"/>
              </a:rPr>
              <a:t>0.88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948A461-DA22-4065-866B-D354B433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924550"/>
            <a:ext cx="112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模型测试准确率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5C000FD-C4EC-47CD-85FA-A3E41671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410200"/>
            <a:ext cx="1428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B33"/>
          </a:solidFill>
          <a:ln xmlns:a="http://schemas.openxmlformats.org/drawingml/2006/main" w="9525">
            <a:solidFill>
              <a:srgbClr val="1E3A5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010DBD7-60BF-4750-BE2E-C42C94BE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505450"/>
            <a:ext cx="1123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8B5CF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B5CF6"/>
                </a:solidFill>
                <a:latin typeface="Aptos Display"/>
                <a:ea typeface="Aptos Display"/>
                <a:cs typeface="Aptos Display"/>
              </a:rPr>
              <a:t>5级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25F3F3-00E5-45F1-9B23-01831755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924550"/>
            <a:ext cx="112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优先级体系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88AD1CC-114C-4DA8-97C7-8C1CD786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410200"/>
            <a:ext cx="1428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B33"/>
          </a:solidFill>
          <a:ln xmlns:a="http://schemas.openxmlformats.org/drawingml/2006/main" w="9525">
            <a:solidFill>
              <a:srgbClr val="1E3A5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6334681-B2FF-457B-981F-283660B2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505450"/>
            <a:ext cx="1123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2015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5FD0884-5499-4B7A-AEE7-59042D37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924550"/>
            <a:ext cx="112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A8B3C7"/>
                </a:solidFill>
                <a:latin typeface="PingFang SC"/>
                <a:ea typeface="PingFang SC"/>
                <a:cs typeface="PingFang SC"/>
              </a:rPr>
              <a:t>累计积分样例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82D8AA9-6B31-460D-AD37-2B7059B2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8425"/>
            <a:ext cx="762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F8EA8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F8EA8"/>
                </a:solidFill>
                <a:latin typeface="Aptos"/>
                <a:ea typeface="Aptos"/>
                <a:cs typeface="Aptos"/>
              </a:rPr>
              <a:t>Source: model.py, priority.py, storage.py, app.py, data/user_stats.json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5DB85DB-CC02-4ABD-B123-89B42C38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F8E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F8EA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5826664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0D01C7-4240-44C6-A815-720C04A8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7C335D-FCBA-4534-B809-FFFF5F24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62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8D77CE-8020-4B5B-930B-CBD3AC12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62100"/>
            <a:ext cx="914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88EC00-EA26-4F0A-A4D3-AB9081C2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95900"/>
            <a:ext cx="914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FFD79-91A9-435B-905A-7A93D411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457450"/>
            <a:ext cx="8191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Campilot 让 AI 从“模型结果”</a:t>
            </a:r>
          </a:p>
          <a:p xmlns:a="http://schemas.openxmlformats.org/drawingml/2006/main">
            <a:pPr algn="ctr">
              <a:defRPr sz="3300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进入真实学习场景。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B5BBB4-780E-4C6A-8F2E-8C651648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7670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DD4B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2DD4BF"/>
                </a:solidFill>
                <a:latin typeface="PingFang SC"/>
                <a:ea typeface="PingFang SC"/>
                <a:cs typeface="PingFang SC"/>
              </a:rPr>
              <a:t>谢谢老师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286365-4F49-4BEA-AC43-68189CFB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8425"/>
            <a:ext cx="762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F8EA8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F8EA8"/>
                </a:solidFill>
                <a:latin typeface="Aptos"/>
                <a:ea typeface="Aptos"/>
                <a:cs typeface="Aptos"/>
              </a:rPr>
              <a:t>Campilot final defense closing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5FBBA2-7CFB-4036-8A25-AAC96912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29375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F8E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F8EA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580600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2026-05-22T04:53:29.5970000Z</dcterms:created>
  <dcterms:modified xsi:type="dcterms:W3CDTF">2026-05-22T04:53:29.5970000Z</dcterms:modified>
</coreProperties>
</file>