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1" r:id="rId3"/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开场先说明 Campilot：它不是复杂日历，而是帮助学生判断任务风险。这里展示的是实际运行的今日驾驶舱，后面视频会展开功能演示，PPT 只负责搭起价值和技术主线。预计 18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第二页先讲技术栈：前端用 HTML/CSS/JS，后端 Flask，本地 CSV/JSON 存储，AI 部分是 pandas 和 scikit-learn。这里强调取舍：项目没有做很重的账号或云服务，而是把精力放在任务风险判断和反馈闭环。预计 20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这一页讲设计思路：学生的问题不是没有日历，而是任务来源分散、截止不统一、优先级难判断。所以 Campilot 的设计不是替用户排满时间，而是用 AI 提醒关注重点，并通过完成反馈形成正循环。预计 22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这一页不用讲太久，直接切入视频。建议视频顺序是控制中枢、今日驾驶舱、本周任务地图、后勤补给，正好对应任务录入、推荐、时间线和激励反馈。预计口头过渡 5 秒，视频约 3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最后补技术实现：新增任务时构造特征，调用预测函数得到优先级和原因；页面再按优先级、DDL、耗时排序推荐。完成任务后 storage.py 计算积分，更新统计，让 AI 判断和激励反馈接到同一条数据链上。预计 30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最后用这一句收束：Campilot 让 AI 从模型结果进入真实学习场景。停顿一下，结束答辩开场。预计 8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/>
      <p:sp>
        <p:nvSpPr>
          <p:cNvPr id="11" name="幻灯片编号"/>
          <p:cNvSpPr/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文本"/>
          <p:cNvSpPr/>
          <p:nvPr>
            <p:ph type="title"/>
          </p:nvPr>
        </p:nvSpPr>
        <p:spPr>
          <a:xfrm>
            <a:off x="914400" y="1844675"/>
            <a:ext cx="10363200" cy="2041525"/>
          </a:xfrm>
          <a:prstGeom prst="rect">
            <a:avLst/>
          </a:prstGeom>
          <a:ln w="12700"/>
        </p:spPr>
        <p:txBody>
          <a:bodyPr lIns="45719" rIns="45719" anchor="ctr"/>
          <a:lstStyle/>
          <a:p/>
        </p:txBody>
      </p:sp>
      <p:sp>
        <p:nvSpPr>
          <p:cNvPr id="3" name="正文级别 1…"/>
          <p:cNvSpPr/>
          <p:nvPr>
            <p:ph type="body" idx="1"/>
          </p:nvPr>
        </p:nvSpPr>
        <p:spPr>
          <a:xfrm>
            <a:off x="1828800" y="3886200"/>
            <a:ext cx="8534400" cy="2971800"/>
          </a:xfrm>
          <a:prstGeom prst="rect">
            <a:avLst/>
          </a:prstGeom>
          <a:ln w="12700"/>
        </p:spPr>
        <p:txBody>
          <a:bodyPr lIns="45719" rIns="45719"/>
          <a:lstStyle/>
          <a:p/>
        </p:txBody>
      </p:sp>
      <p:sp>
        <p:nvSpPr>
          <p:cNvPr id="4" name="幻灯片编号"/>
          <p:cNvSpPr/>
          <p:nvPr>
            <p:ph type="sldNum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/>
        </p:spPr>
        <p:txBody>
          <a:bodyPr wrap="none" lIns="45719" rIns="45719" anchor="ctr">
            <a:spAutoFit/>
          </a:bodyPr>
          <a:lstStyle>
            <a:lvl1pPr algn="r">
              <a:buNone/>
              <a:defRPr sz="1200"/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 algn="l">
        <a:lnSpc>
          <a:spcPct val="9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1pPr>
      <a:lvl2pPr marL="0" indent="0" algn="l">
        <a:lnSpc>
          <a:spcPct val="9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2pPr>
      <a:lvl3pPr marL="0" indent="0" algn="l">
        <a:lnSpc>
          <a:spcPct val="9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3pPr>
      <a:lvl4pPr marL="0" indent="0" algn="l">
        <a:lnSpc>
          <a:spcPct val="9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4pPr>
      <a:lvl5pPr marL="0" indent="0" algn="l">
        <a:lnSpc>
          <a:spcPct val="9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5pPr>
      <a:lvl6pPr marL="0" indent="0" algn="l">
        <a:lnSpc>
          <a:spcPct val="9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6pPr>
      <a:lvl7pPr marL="0" indent="0" algn="l">
        <a:lnSpc>
          <a:spcPct val="9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7pPr>
      <a:lvl8pPr marL="0" indent="0" algn="l">
        <a:lnSpc>
          <a:spcPct val="9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8pPr>
      <a:lvl9pPr marL="0" indent="0" algn="l">
        <a:lnSpc>
          <a:spcPct val="90000"/>
        </a:lnSpc>
        <a:spcBef>
          <a:spcPts val="0"/>
        </a:spcBef>
        <a:spcAft>
          <a:spcPts val="0"/>
        </a:spcAft>
        <a:buNone/>
        <a:defRPr sz="4400" b="0" i="0" u="none" cap="none" spc="0">
          <a:solidFill>
            <a:srgbClr val="000000"/>
          </a:solidFill>
          <a:latin typeface="Calibri Light"/>
          <a:ea typeface="Calibri Light"/>
          <a:cs typeface="Calibri Light"/>
        </a:defRPr>
      </a:lvl9pPr>
    </p:titleStyle>
    <p:bodyStyle>
      <a:lvl1pPr marL="228600" indent="-228600" algn="l">
        <a:lnSpc>
          <a:spcPct val="90000"/>
        </a:lnSpc>
        <a:spcBef>
          <a:spcPts val="1000"/>
        </a:spcBef>
        <a:spcAft>
          <a:spcPts val="0"/>
        </a:spcAft>
        <a:buChar char="•"/>
        <a:defRPr sz="2800" b="0" i="0" u="none" cap="none" spc="0">
          <a:solidFill>
            <a:srgbClr val="000000"/>
          </a:solidFill>
          <a:latin typeface="Calibri"/>
          <a:ea typeface="Calibri"/>
          <a:cs typeface="Calibri"/>
        </a:defRPr>
      </a:lvl1pPr>
      <a:lvl2pPr marL="723900" indent="-266700" algn="l">
        <a:lnSpc>
          <a:spcPct val="90000"/>
        </a:lnSpc>
        <a:spcBef>
          <a:spcPts val="1000"/>
        </a:spcBef>
        <a:spcAft>
          <a:spcPts val="0"/>
        </a:spcAft>
        <a:buChar char="•"/>
        <a:defRPr sz="2800" b="0" i="0" u="none" cap="none" spc="0">
          <a:solidFill>
            <a:srgbClr val="000000"/>
          </a:solidFill>
          <a:latin typeface="Calibri"/>
          <a:ea typeface="Calibri"/>
          <a:cs typeface="Calibri"/>
        </a:defRPr>
      </a:lvl2pPr>
      <a:lvl3pPr marL="1234440" indent="-320040" algn="l">
        <a:lnSpc>
          <a:spcPct val="90000"/>
        </a:lnSpc>
        <a:spcBef>
          <a:spcPts val="1000"/>
        </a:spcBef>
        <a:spcAft>
          <a:spcPts val="0"/>
        </a:spcAft>
        <a:buChar char="•"/>
        <a:defRPr sz="2800" b="0" i="0" u="none" cap="none" spc="0">
          <a:solidFill>
            <a:srgbClr val="000000"/>
          </a:solidFill>
          <a:latin typeface="Calibri"/>
          <a:ea typeface="Calibri"/>
          <a:cs typeface="Calibri"/>
        </a:defRPr>
      </a:lvl3pPr>
      <a:lvl4pPr marL="1727200" indent="-355600" algn="l">
        <a:lnSpc>
          <a:spcPct val="90000"/>
        </a:lnSpc>
        <a:spcBef>
          <a:spcPts val="1000"/>
        </a:spcBef>
        <a:spcAft>
          <a:spcPts val="0"/>
        </a:spcAft>
        <a:buChar char="•"/>
        <a:defRPr sz="2800" b="0" i="0" u="none" cap="none" spc="0">
          <a:solidFill>
            <a:srgbClr val="000000"/>
          </a:solidFill>
          <a:latin typeface="Calibri"/>
          <a:ea typeface="Calibri"/>
          <a:cs typeface="Calibri"/>
        </a:defRPr>
      </a:lvl4pPr>
      <a:lvl5pPr marL="2184400" indent="-355600" algn="l">
        <a:lnSpc>
          <a:spcPct val="90000"/>
        </a:lnSpc>
        <a:spcBef>
          <a:spcPts val="1000"/>
        </a:spcBef>
        <a:spcAft>
          <a:spcPts val="0"/>
        </a:spcAft>
        <a:buChar char="•"/>
        <a:defRPr sz="2800" b="0" i="0" u="none" cap="none" spc="0">
          <a:solidFill>
            <a:srgbClr val="000000"/>
          </a:solidFill>
          <a:latin typeface="Calibri"/>
          <a:ea typeface="Calibri"/>
          <a:cs typeface="Calibri"/>
        </a:defRPr>
      </a:lvl5pPr>
      <a:lvl6pPr marL="2641600" indent="-355600" algn="l">
        <a:lnSpc>
          <a:spcPct val="90000"/>
        </a:lnSpc>
        <a:spcBef>
          <a:spcPts val="1000"/>
        </a:spcBef>
        <a:spcAft>
          <a:spcPts val="0"/>
        </a:spcAft>
        <a:buChar char="•"/>
        <a:defRPr sz="2800" b="0" i="0" u="none" cap="none" spc="0">
          <a:solidFill>
            <a:srgbClr val="000000"/>
          </a:solidFill>
          <a:latin typeface="Calibri"/>
          <a:ea typeface="Calibri"/>
          <a:cs typeface="Calibri"/>
        </a:defRPr>
      </a:lvl6pPr>
      <a:lvl7pPr marL="3098800" indent="-355600" algn="l">
        <a:lnSpc>
          <a:spcPct val="90000"/>
        </a:lnSpc>
        <a:spcBef>
          <a:spcPts val="1000"/>
        </a:spcBef>
        <a:spcAft>
          <a:spcPts val="0"/>
        </a:spcAft>
        <a:buChar char="•"/>
        <a:defRPr sz="2800" b="0" i="0" u="none" cap="none" spc="0">
          <a:solidFill>
            <a:srgbClr val="000000"/>
          </a:solidFill>
          <a:latin typeface="Calibri"/>
          <a:ea typeface="Calibri"/>
          <a:cs typeface="Calibri"/>
        </a:defRPr>
      </a:lvl7pPr>
      <a:lvl8pPr marL="3556000" indent="-355600" algn="l">
        <a:lnSpc>
          <a:spcPct val="90000"/>
        </a:lnSpc>
        <a:spcBef>
          <a:spcPts val="1000"/>
        </a:spcBef>
        <a:spcAft>
          <a:spcPts val="0"/>
        </a:spcAft>
        <a:buChar char="•"/>
        <a:defRPr sz="2800" b="0" i="0" u="none" cap="none" spc="0">
          <a:solidFill>
            <a:srgbClr val="000000"/>
          </a:solidFill>
          <a:latin typeface="Calibri"/>
          <a:ea typeface="Calibri"/>
          <a:cs typeface="Calibri"/>
        </a:defRPr>
      </a:lvl8pPr>
      <a:lvl9pPr marL="4013200" indent="-355600" algn="l">
        <a:lnSpc>
          <a:spcPct val="90000"/>
        </a:lnSpc>
        <a:spcBef>
          <a:spcPts val="1000"/>
        </a:spcBef>
        <a:spcAft>
          <a:spcPts val="0"/>
        </a:spcAft>
        <a:buChar char="•"/>
        <a:defRPr sz="2800" b="0" i="0" u="none" cap="none" spc="0">
          <a:solidFill>
            <a:srgbClr val="000000"/>
          </a:solidFill>
          <a:latin typeface="Calibri"/>
          <a:ea typeface="Calibri"/>
          <a:cs typeface="Calibri"/>
        </a:defRPr>
      </a:lvl9pPr>
    </p:bodyStyle>
    <p:otherStyle>
      <a:lvl1pPr marL="0" indent="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1pPr>
      <a:lvl2pPr marL="0" indent="45720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2pPr>
      <a:lvl3pPr marL="0" indent="91440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3pPr>
      <a:lvl4pPr marL="0" indent="137160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4pPr>
      <a:lvl5pPr marL="0" indent="182880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5pPr>
      <a:lvl6pPr marL="0" indent="228600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6pPr>
      <a:lvl7pPr marL="0" indent="274320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7pPr>
      <a:lvl8pPr marL="0" indent="320040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8pPr>
      <a:lvl9pPr marL="0" indent="3657600" algn="r">
        <a:lnSpc>
          <a:spcPct val="100000"/>
        </a:lnSpc>
        <a:spcBef>
          <a:spcPts val="0"/>
        </a:spcBef>
        <a:spcAft>
          <a:spcPts val="0"/>
        </a:spcAft>
        <a:buNone/>
        <a:defRPr sz="1200" b="0" i="0" u="none" cap="none" spc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2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706100" y="0"/>
            <a:ext cx="1485900" cy="6858000"/>
          </a:xfrm>
          <a:prstGeom prst="rect">
            <a:avLst/>
          </a:prstGeom>
          <a:solidFill>
            <a:srgbClr val="091E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839450" y="0"/>
            <a:ext cx="19050" cy="6858000"/>
          </a:xfrm>
          <a:prstGeom prst="rect">
            <a:avLst/>
          </a:prstGeom>
          <a:solidFill>
            <a:srgbClr val="2DD4B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5962650"/>
            <a:ext cx="10706100" cy="9525"/>
          </a:xfrm>
          <a:prstGeom prst="rect">
            <a:avLst/>
          </a:prstGeom>
          <a:solidFill>
            <a:srgbClr val="1E3A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0" y="361950"/>
            <a:ext cx="12192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38E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38E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COURSE DEFENSE</a:t>
            </a:r>
            <a:endParaRPr sz="975" b="1">
              <a:solidFill>
                <a:srgbClr val="38E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42950"/>
            <a:ext cx="3962400" cy="990600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2095500" y="1790700"/>
            <a:ext cx="80010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900" b="1">
                <a:solidFill>
                  <a:srgbClr val="F4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900" b="1">
                <a:solidFill>
                  <a:srgbClr val="F4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大学生任务管理的</a:t>
            </a:r>
            <a:endParaRPr sz="3900" b="1">
              <a:solidFill>
                <a:srgbClr val="F4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3900" b="1">
                <a:solidFill>
                  <a:srgbClr val="F4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900" b="1">
                <a:solidFill>
                  <a:srgbClr val="F4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智能副驾驶</a:t>
            </a:r>
            <a:endParaRPr sz="3900" b="1">
              <a:solidFill>
                <a:srgbClr val="F4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姓名学号空文本框"/>
          <p:cNvSpPr>
            <a:spLocks noGrp="1"/>
          </p:cNvSpPr>
          <p:nvPr/>
        </p:nvSpPr>
        <p:spPr>
          <a:xfrm>
            <a:off x="4000500" y="3067050"/>
            <a:ext cx="4191000" cy="4191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76200" tIns="0" rIns="76200" bIns="0" anchor="t"/>
          <a:lstStyle/>
          <a:p>
            <a:pPr algn="ctr">
              <a:defRPr sz="1350" b="0">
                <a:solidFill>
                  <a:srgbClr val="BFD2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350" b="0">
                <a:solidFill>
                  <a:srgbClr val="BFD2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第</a:t>
            </a:r>
            <a:r>
              <a:rPr lang="en-US" altLang="zh-CN" sz="1350" b="0">
                <a:solidFill>
                  <a:srgbClr val="BFD2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8 </a:t>
            </a:r>
            <a:r>
              <a:rPr lang="zh-CN" altLang="en-US" sz="1350" b="0">
                <a:solidFill>
                  <a:srgbClr val="BFD2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组</a:t>
            </a:r>
            <a:r>
              <a:rPr lang="en-US" altLang="zh-CN" sz="1350" b="0">
                <a:solidFill>
                  <a:srgbClr val="BFD2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lang="zh-CN" altLang="en-US" sz="1350" b="0">
                <a:solidFill>
                  <a:srgbClr val="BFD2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陈一诺</a:t>
            </a:r>
            <a:endParaRPr lang="zh-CN" altLang="en-US" sz="1350" b="0">
              <a:solidFill>
                <a:srgbClr val="BFD2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defRPr sz="1350" b="0">
                <a:solidFill>
                  <a:srgbClr val="BFD2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BFD2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endParaRPr sz="1350" b="0">
              <a:solidFill>
                <a:srgbClr val="BFD2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809750" y="3657600"/>
            <a:ext cx="8572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025" b="0">
                <a:solidFill>
                  <a:srgbClr val="BFD2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025" b="0">
                <a:solidFill>
                  <a:srgbClr val="BFD2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用优先级预测与积分激励，帮助学生识别任务风险、安排关注重点。</a:t>
            </a:r>
            <a:endParaRPr sz="2025" b="0">
              <a:solidFill>
                <a:srgbClr val="BFD2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276600" y="4457700"/>
            <a:ext cx="1238250" cy="457200"/>
          </a:xfrm>
          <a:prstGeom prst="rect">
            <a:avLst/>
          </a:prstGeom>
          <a:solidFill>
            <a:srgbClr val="0A1B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276600" y="45720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BFD2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BFD2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任务录入</a:t>
            </a:r>
            <a:endParaRPr sz="1125" b="0">
              <a:solidFill>
                <a:srgbClr val="BFD2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533900" y="4543425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38E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38E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1500" b="0">
              <a:solidFill>
                <a:srgbClr val="38E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743450" y="4457700"/>
            <a:ext cx="1238250" cy="457200"/>
          </a:xfrm>
          <a:prstGeom prst="rect">
            <a:avLst/>
          </a:prstGeom>
          <a:solidFill>
            <a:srgbClr val="123A63"/>
          </a:solidFill>
          <a:ln w="9525">
            <a:solidFill>
              <a:srgbClr val="38E8F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743450" y="45720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4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F4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优先级预测</a:t>
            </a:r>
            <a:endParaRPr sz="1125" b="1">
              <a:solidFill>
                <a:srgbClr val="F4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00750" y="4543425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38E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38E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1500" b="0">
              <a:solidFill>
                <a:srgbClr val="38E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10300" y="4457700"/>
            <a:ext cx="1238250" cy="457200"/>
          </a:xfrm>
          <a:prstGeom prst="rect">
            <a:avLst/>
          </a:prstGeom>
          <a:solidFill>
            <a:srgbClr val="0A1B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210300" y="45720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BFD2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BFD2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今日/本周建议</a:t>
            </a:r>
            <a:endParaRPr sz="1125" b="0">
              <a:solidFill>
                <a:srgbClr val="BFD2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467600" y="4543425"/>
            <a:ext cx="209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38E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0">
                <a:solidFill>
                  <a:srgbClr val="38E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1500" b="0">
              <a:solidFill>
                <a:srgbClr val="38E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677150" y="4457700"/>
            <a:ext cx="1238250" cy="457200"/>
          </a:xfrm>
          <a:prstGeom prst="rect">
            <a:avLst/>
          </a:prstGeom>
          <a:solidFill>
            <a:srgbClr val="0A1B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677150" y="45720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BFD2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BFD2E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完成反馈</a:t>
            </a:r>
            <a:endParaRPr sz="1125" b="0">
              <a:solidFill>
                <a:srgbClr val="BFD2E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000375" y="5219700"/>
            <a:ext cx="6191250" cy="685800"/>
          </a:xfrm>
          <a:prstGeom prst="rect">
            <a:avLst/>
          </a:prstGeom>
          <a:solidFill>
            <a:srgbClr val="101E39"/>
          </a:solidFill>
          <a:ln w="9525">
            <a:solidFill>
              <a:srgbClr val="2A4D75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276600" y="53530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8E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38E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核心定位</a:t>
            </a:r>
            <a:endParaRPr sz="1200" b="1">
              <a:solidFill>
                <a:srgbClr val="38E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419600" y="5324475"/>
            <a:ext cx="44386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4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F4F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不是日历，而是让学生看见“现在最该关注什么”。</a:t>
            </a:r>
            <a:endParaRPr sz="1650" b="0">
              <a:solidFill>
                <a:srgbClr val="F4F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839450" y="6324600"/>
            <a:ext cx="51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8E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38E8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350" b="1">
              <a:solidFill>
                <a:srgbClr val="38E8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3" name="矩形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426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104" name="矩形"/>
          <p:cNvSpPr>
            <a:spLocks noGrp="1"/>
          </p:cNvSpPr>
          <p:nvPr/>
        </p:nvSpPr>
        <p:spPr>
          <a:xfrm>
            <a:off x="8591550" y="0"/>
            <a:ext cx="3600450" cy="6858000"/>
          </a:xfrm>
          <a:prstGeom prst="rect">
            <a:avLst/>
          </a:prstGeom>
          <a:solidFill>
            <a:srgbClr val="091B35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105" name="矩形"/>
          <p:cNvSpPr>
            <a:spLocks noGrp="1"/>
          </p:cNvSpPr>
          <p:nvPr/>
        </p:nvSpPr>
        <p:spPr>
          <a:xfrm>
            <a:off x="8629650" y="0"/>
            <a:ext cx="19050" cy="6858000"/>
          </a:xfrm>
          <a:prstGeom prst="rect">
            <a:avLst/>
          </a:prstGeom>
          <a:solidFill>
            <a:srgbClr val="123A63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106" name="矩形"/>
          <p:cNvSpPr>
            <a:spLocks noGrp="1"/>
          </p:cNvSpPr>
          <p:nvPr/>
        </p:nvSpPr>
        <p:spPr>
          <a:xfrm>
            <a:off x="666750" y="1122362"/>
            <a:ext cx="7524750" cy="12701"/>
          </a:xfrm>
          <a:prstGeom prst="rect">
            <a:avLst/>
          </a:prstGeom>
          <a:solidFill>
            <a:srgbClr val="28435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107" name="矩形"/>
          <p:cNvSpPr>
            <a:spLocks noGrp="1"/>
          </p:cNvSpPr>
          <p:nvPr/>
        </p:nvSpPr>
        <p:spPr>
          <a:xfrm>
            <a:off x="666750" y="6342062"/>
            <a:ext cx="10858500" cy="12701"/>
          </a:xfrm>
          <a:prstGeom prst="rect">
            <a:avLst/>
          </a:prstGeom>
          <a:solidFill>
            <a:srgbClr val="173456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108" name="kicker-marker"/>
          <p:cNvSpPr>
            <a:spLocks noGrp="1"/>
          </p:cNvSpPr>
          <p:nvPr/>
        </p:nvSpPr>
        <p:spPr>
          <a:xfrm>
            <a:off x="666750" y="476250"/>
            <a:ext cx="76200" cy="76200"/>
          </a:xfrm>
          <a:prstGeom prst="rect">
            <a:avLst/>
          </a:prstGeom>
          <a:solidFill>
            <a:srgbClr val="3B82F6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109" name="矩形"/>
          <p:cNvSpPr>
            <a:spLocks noGrp="1"/>
          </p:cNvSpPr>
          <p:nvPr/>
        </p:nvSpPr>
        <p:spPr>
          <a:xfrm>
            <a:off x="838200" y="4191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90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110" name="TECH STACK"/>
          <p:cNvSpPr>
            <a:spLocks noGrp="1"/>
          </p:cNvSpPr>
          <p:nvPr/>
        </p:nvSpPr>
        <p:spPr>
          <a:xfrm>
            <a:off x="838200" y="454024"/>
            <a:ext cx="3429000" cy="139701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ctr">
            <a:spAutoFit/>
          </a:bodyPr>
          <a:lstStyle>
            <a:lvl1pPr>
              <a:buNone/>
              <a:defRPr sz="900" b="1">
                <a:solidFill>
                  <a:srgbClr val="3B82F6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TECH STACK</a:t>
            </a:r>
          </a:p>
        </p:txBody>
      </p:sp>
      <p:sp>
        <p:nvSpPr>
          <p:cNvPr id="112" name="矩形"/>
          <p:cNvSpPr>
            <a:spLocks noGrp="1"/>
          </p:cNvSpPr>
          <p:nvPr/>
        </p:nvSpPr>
        <p:spPr>
          <a:xfrm>
            <a:off x="666750" y="723900"/>
            <a:ext cx="8001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7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113" name="技术栈：轻量 Web + 本地数据 + AI 分类"/>
          <p:cNvSpPr>
            <a:spLocks noGrp="1"/>
          </p:cNvSpPr>
          <p:nvPr/>
        </p:nvSpPr>
        <p:spPr>
          <a:xfrm>
            <a:off x="666750" y="723900"/>
            <a:ext cx="8001000" cy="482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27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技术栈：轻量 Web + 本地数据 + AI 分类</a:t>
            </a:r>
          </a:p>
        </p:txBody>
      </p:sp>
      <p:sp>
        <p:nvSpPr>
          <p:cNvPr id="115" name="矩形"/>
          <p:cNvSpPr>
            <a:spLocks noGrp="1"/>
          </p:cNvSpPr>
          <p:nvPr/>
        </p:nvSpPr>
        <p:spPr>
          <a:xfrm>
            <a:off x="685800" y="1352550"/>
            <a:ext cx="685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4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116" name="围绕课程项目目标，选择能快速交互、可解释、可本地运行的实现组合。"/>
          <p:cNvSpPr>
            <a:spLocks noGrp="1"/>
          </p:cNvSpPr>
          <p:nvPr/>
        </p:nvSpPr>
        <p:spPr>
          <a:xfrm>
            <a:off x="685800" y="1352550"/>
            <a:ext cx="6858000" cy="254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4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围绕课程项目目标，选择能快速交互、可解释、可本地运行的实现组合。</a:t>
            </a:r>
          </a:p>
        </p:txBody>
      </p:sp>
      <p:sp>
        <p:nvSpPr>
          <p:cNvPr id="118" name="矩形"/>
          <p:cNvSpPr>
            <a:spLocks noGrp="1"/>
          </p:cNvSpPr>
          <p:nvPr/>
        </p:nvSpPr>
        <p:spPr>
          <a:xfrm>
            <a:off x="857250" y="2152650"/>
            <a:ext cx="4095750" cy="609600"/>
          </a:xfrm>
          <a:prstGeom prst="rect">
            <a:avLst/>
          </a:prstGeom>
          <a:solidFill>
            <a:srgbClr val="0B1E36"/>
          </a:solidFill>
          <a:ln>
            <a:solidFill>
              <a:srgbClr val="254D70"/>
            </a:solidFill>
          </a:ln>
        </p:spPr>
        <p:txBody>
          <a:bodyPr lIns="0" tIns="0" rIns="0" bIns="0"/>
          <a:lstStyle/>
          <a:p/>
        </p:txBody>
      </p:sp>
      <p:sp>
        <p:nvSpPr>
          <p:cNvPr id="119" name="正方形"/>
          <p:cNvSpPr>
            <a:spLocks noGrp="1"/>
          </p:cNvSpPr>
          <p:nvPr/>
        </p:nvSpPr>
        <p:spPr>
          <a:xfrm>
            <a:off x="1066800" y="2362200"/>
            <a:ext cx="76200" cy="76200"/>
          </a:xfrm>
          <a:prstGeom prst="rect">
            <a:avLst/>
          </a:prstGeom>
          <a:solidFill>
            <a:srgbClr val="2DD4B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120" name="矩形"/>
          <p:cNvSpPr>
            <a:spLocks noGrp="1"/>
          </p:cNvSpPr>
          <p:nvPr/>
        </p:nvSpPr>
        <p:spPr>
          <a:xfrm>
            <a:off x="1257300" y="22479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121" name="前端页面"/>
          <p:cNvSpPr>
            <a:spLocks noGrp="1"/>
          </p:cNvSpPr>
          <p:nvPr/>
        </p:nvSpPr>
        <p:spPr>
          <a:xfrm>
            <a:off x="1257300" y="2247900"/>
            <a:ext cx="1143000" cy="2159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2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前端页面</a:t>
            </a:r>
          </a:p>
        </p:txBody>
      </p:sp>
      <p:sp>
        <p:nvSpPr>
          <p:cNvPr id="123" name="矩形"/>
          <p:cNvSpPr>
            <a:spLocks noGrp="1"/>
          </p:cNvSpPr>
          <p:nvPr/>
        </p:nvSpPr>
        <p:spPr>
          <a:xfrm>
            <a:off x="2514600" y="2238375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00">
                <a:solidFill>
                  <a:srgbClr val="2DD4B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124" name="HTML / CSS / JavaScript"/>
          <p:cNvSpPr>
            <a:spLocks noGrp="1"/>
          </p:cNvSpPr>
          <p:nvPr/>
        </p:nvSpPr>
        <p:spPr>
          <a:xfrm>
            <a:off x="2514600" y="2238375"/>
            <a:ext cx="2152650" cy="2159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200">
                <a:solidFill>
                  <a:srgbClr val="2DD4B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HTML / CSS / JavaScript</a:t>
            </a:r>
          </a:p>
        </p:txBody>
      </p:sp>
      <p:sp>
        <p:nvSpPr>
          <p:cNvPr id="126" name="矩形"/>
          <p:cNvSpPr>
            <a:spLocks noGrp="1"/>
          </p:cNvSpPr>
          <p:nvPr/>
        </p:nvSpPr>
        <p:spPr>
          <a:xfrm>
            <a:off x="1257300" y="2476500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127" name="templates + static"/>
          <p:cNvSpPr>
            <a:spLocks noGrp="1"/>
          </p:cNvSpPr>
          <p:nvPr/>
        </p:nvSpPr>
        <p:spPr>
          <a:xfrm>
            <a:off x="1257300" y="2476500"/>
            <a:ext cx="3143250" cy="165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templates + static</a:t>
            </a:r>
          </a:p>
        </p:txBody>
      </p:sp>
      <p:sp>
        <p:nvSpPr>
          <p:cNvPr id="129" name="矩形"/>
          <p:cNvSpPr>
            <a:spLocks noGrp="1"/>
          </p:cNvSpPr>
          <p:nvPr/>
        </p:nvSpPr>
        <p:spPr>
          <a:xfrm>
            <a:off x="857250" y="2895600"/>
            <a:ext cx="4095750" cy="609600"/>
          </a:xfrm>
          <a:prstGeom prst="rect">
            <a:avLst/>
          </a:prstGeom>
          <a:solidFill>
            <a:srgbClr val="0B1E36"/>
          </a:solidFill>
          <a:ln>
            <a:solidFill>
              <a:srgbClr val="254D70"/>
            </a:solidFill>
          </a:ln>
        </p:spPr>
        <p:txBody>
          <a:bodyPr lIns="0" tIns="0" rIns="0" bIns="0"/>
          <a:lstStyle/>
          <a:p/>
        </p:txBody>
      </p:sp>
      <p:sp>
        <p:nvSpPr>
          <p:cNvPr id="130" name="正方形"/>
          <p:cNvSpPr>
            <a:spLocks noGrp="1"/>
          </p:cNvSpPr>
          <p:nvPr/>
        </p:nvSpPr>
        <p:spPr>
          <a:xfrm>
            <a:off x="1066800" y="3105150"/>
            <a:ext cx="76200" cy="76200"/>
          </a:xfrm>
          <a:prstGeom prst="rect">
            <a:avLst/>
          </a:prstGeom>
          <a:solidFill>
            <a:srgbClr val="3B82F6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131" name="矩形"/>
          <p:cNvSpPr>
            <a:spLocks noGrp="1"/>
          </p:cNvSpPr>
          <p:nvPr/>
        </p:nvSpPr>
        <p:spPr>
          <a:xfrm>
            <a:off x="1257300" y="299085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132" name="应用服务"/>
          <p:cNvSpPr>
            <a:spLocks noGrp="1"/>
          </p:cNvSpPr>
          <p:nvPr/>
        </p:nvSpPr>
        <p:spPr>
          <a:xfrm>
            <a:off x="1257300" y="2990850"/>
            <a:ext cx="1143000" cy="2159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2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应用服务</a:t>
            </a:r>
          </a:p>
        </p:txBody>
      </p:sp>
      <p:sp>
        <p:nvSpPr>
          <p:cNvPr id="134" name="矩形"/>
          <p:cNvSpPr>
            <a:spLocks noGrp="1"/>
          </p:cNvSpPr>
          <p:nvPr/>
        </p:nvSpPr>
        <p:spPr>
          <a:xfrm>
            <a:off x="2514600" y="2981325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00">
                <a:solidFill>
                  <a:srgbClr val="3B82F6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135" name="Python + Flask"/>
          <p:cNvSpPr>
            <a:spLocks noGrp="1"/>
          </p:cNvSpPr>
          <p:nvPr/>
        </p:nvSpPr>
        <p:spPr>
          <a:xfrm>
            <a:off x="2514600" y="2981325"/>
            <a:ext cx="2152650" cy="2159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200">
                <a:solidFill>
                  <a:srgbClr val="3B82F6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Python + Flask</a:t>
            </a:r>
          </a:p>
        </p:txBody>
      </p:sp>
      <p:sp>
        <p:nvSpPr>
          <p:cNvPr id="137" name="矩形"/>
          <p:cNvSpPr>
            <a:spLocks noGrp="1"/>
          </p:cNvSpPr>
          <p:nvPr/>
        </p:nvSpPr>
        <p:spPr>
          <a:xfrm>
            <a:off x="1257300" y="3219450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138" name="路由、表单、页面上下文"/>
          <p:cNvSpPr>
            <a:spLocks noGrp="1"/>
          </p:cNvSpPr>
          <p:nvPr/>
        </p:nvSpPr>
        <p:spPr>
          <a:xfrm>
            <a:off x="1257300" y="3219450"/>
            <a:ext cx="3143250" cy="165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路由、表单、页面上下文</a:t>
            </a:r>
          </a:p>
        </p:txBody>
      </p:sp>
      <p:sp>
        <p:nvSpPr>
          <p:cNvPr id="140" name="矩形"/>
          <p:cNvSpPr>
            <a:spLocks noGrp="1"/>
          </p:cNvSpPr>
          <p:nvPr/>
        </p:nvSpPr>
        <p:spPr>
          <a:xfrm>
            <a:off x="857250" y="3638550"/>
            <a:ext cx="4095750" cy="609600"/>
          </a:xfrm>
          <a:prstGeom prst="rect">
            <a:avLst/>
          </a:prstGeom>
          <a:solidFill>
            <a:srgbClr val="0B1E36"/>
          </a:solidFill>
          <a:ln>
            <a:solidFill>
              <a:srgbClr val="254D70"/>
            </a:solidFill>
          </a:ln>
        </p:spPr>
        <p:txBody>
          <a:bodyPr lIns="0" tIns="0" rIns="0" bIns="0"/>
          <a:lstStyle/>
          <a:p/>
        </p:txBody>
      </p:sp>
      <p:sp>
        <p:nvSpPr>
          <p:cNvPr id="141" name="正方形"/>
          <p:cNvSpPr>
            <a:spLocks noGrp="1"/>
          </p:cNvSpPr>
          <p:nvPr/>
        </p:nvSpPr>
        <p:spPr>
          <a:xfrm>
            <a:off x="1066800" y="3848100"/>
            <a:ext cx="76200" cy="76200"/>
          </a:xfrm>
          <a:prstGeom prst="rect">
            <a:avLst/>
          </a:prstGeom>
          <a:solidFill>
            <a:srgbClr val="8B5CF6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142" name="矩形"/>
          <p:cNvSpPr>
            <a:spLocks noGrp="1"/>
          </p:cNvSpPr>
          <p:nvPr/>
        </p:nvSpPr>
        <p:spPr>
          <a:xfrm>
            <a:off x="1257300" y="37338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143" name="数据存储"/>
          <p:cNvSpPr>
            <a:spLocks noGrp="1"/>
          </p:cNvSpPr>
          <p:nvPr/>
        </p:nvSpPr>
        <p:spPr>
          <a:xfrm>
            <a:off x="1257300" y="3733800"/>
            <a:ext cx="1143000" cy="2159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2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数据存储</a:t>
            </a:r>
          </a:p>
        </p:txBody>
      </p:sp>
      <p:sp>
        <p:nvSpPr>
          <p:cNvPr id="145" name="矩形"/>
          <p:cNvSpPr>
            <a:spLocks noGrp="1"/>
          </p:cNvSpPr>
          <p:nvPr/>
        </p:nvSpPr>
        <p:spPr>
          <a:xfrm>
            <a:off x="2514600" y="3724275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00">
                <a:solidFill>
                  <a:srgbClr val="8B5CF6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146" name="CSV / JSON"/>
          <p:cNvSpPr>
            <a:spLocks noGrp="1"/>
          </p:cNvSpPr>
          <p:nvPr/>
        </p:nvSpPr>
        <p:spPr>
          <a:xfrm>
            <a:off x="2514600" y="3724275"/>
            <a:ext cx="2152650" cy="2159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200">
                <a:solidFill>
                  <a:srgbClr val="8B5CF6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CSV / JSON</a:t>
            </a:r>
          </a:p>
        </p:txBody>
      </p:sp>
      <p:sp>
        <p:nvSpPr>
          <p:cNvPr id="148" name="矩形"/>
          <p:cNvSpPr>
            <a:spLocks noGrp="1"/>
          </p:cNvSpPr>
          <p:nvPr/>
        </p:nvSpPr>
        <p:spPr>
          <a:xfrm>
            <a:off x="1257300" y="3962400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149" name="任务、安排、积分、兑换记录"/>
          <p:cNvSpPr>
            <a:spLocks noGrp="1"/>
          </p:cNvSpPr>
          <p:nvPr/>
        </p:nvSpPr>
        <p:spPr>
          <a:xfrm>
            <a:off x="1257300" y="3962400"/>
            <a:ext cx="3143250" cy="165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任务、安排、积分、兑换记录</a:t>
            </a:r>
          </a:p>
        </p:txBody>
      </p:sp>
      <p:sp>
        <p:nvSpPr>
          <p:cNvPr id="151" name="矩形"/>
          <p:cNvSpPr>
            <a:spLocks noGrp="1"/>
          </p:cNvSpPr>
          <p:nvPr/>
        </p:nvSpPr>
        <p:spPr>
          <a:xfrm>
            <a:off x="857250" y="4381500"/>
            <a:ext cx="4095750" cy="609600"/>
          </a:xfrm>
          <a:prstGeom prst="rect">
            <a:avLst/>
          </a:prstGeom>
          <a:solidFill>
            <a:srgbClr val="0B1E36"/>
          </a:solidFill>
          <a:ln>
            <a:solidFill>
              <a:srgbClr val="254D70"/>
            </a:solidFill>
          </a:ln>
        </p:spPr>
        <p:txBody>
          <a:bodyPr lIns="0" tIns="0" rIns="0" bIns="0"/>
          <a:lstStyle/>
          <a:p/>
        </p:txBody>
      </p:sp>
      <p:sp>
        <p:nvSpPr>
          <p:cNvPr id="152" name="正方形"/>
          <p:cNvSpPr>
            <a:spLocks noGrp="1"/>
          </p:cNvSpPr>
          <p:nvPr/>
        </p:nvSpPr>
        <p:spPr>
          <a:xfrm>
            <a:off x="1066800" y="4591050"/>
            <a:ext cx="76200" cy="76200"/>
          </a:xfrm>
          <a:prstGeom prst="rect">
            <a:avLst/>
          </a:prstGeom>
          <a:solidFill>
            <a:srgbClr val="F59E0B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153" name="矩形"/>
          <p:cNvSpPr>
            <a:spLocks noGrp="1"/>
          </p:cNvSpPr>
          <p:nvPr/>
        </p:nvSpPr>
        <p:spPr>
          <a:xfrm>
            <a:off x="1257300" y="447675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154" name="AI 模块"/>
          <p:cNvSpPr>
            <a:spLocks noGrp="1"/>
          </p:cNvSpPr>
          <p:nvPr/>
        </p:nvSpPr>
        <p:spPr>
          <a:xfrm>
            <a:off x="1257300" y="4476750"/>
            <a:ext cx="1143000" cy="2159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2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AI 模块</a:t>
            </a:r>
          </a:p>
        </p:txBody>
      </p:sp>
      <p:sp>
        <p:nvSpPr>
          <p:cNvPr id="156" name="矩形"/>
          <p:cNvSpPr>
            <a:spLocks noGrp="1"/>
          </p:cNvSpPr>
          <p:nvPr/>
        </p:nvSpPr>
        <p:spPr>
          <a:xfrm>
            <a:off x="2514600" y="4467225"/>
            <a:ext cx="21526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200">
                <a:solidFill>
                  <a:srgbClr val="F59E0B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157" name="pandas + scikit-learn"/>
          <p:cNvSpPr>
            <a:spLocks noGrp="1"/>
          </p:cNvSpPr>
          <p:nvPr/>
        </p:nvSpPr>
        <p:spPr>
          <a:xfrm>
            <a:off x="2514600" y="4467225"/>
            <a:ext cx="2152650" cy="2159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200">
                <a:solidFill>
                  <a:srgbClr val="F59E0B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pandas + scikit-learn</a:t>
            </a:r>
          </a:p>
        </p:txBody>
      </p:sp>
      <p:sp>
        <p:nvSpPr>
          <p:cNvPr id="159" name="矩形"/>
          <p:cNvSpPr>
            <a:spLocks noGrp="1"/>
          </p:cNvSpPr>
          <p:nvPr/>
        </p:nvSpPr>
        <p:spPr>
          <a:xfrm>
            <a:off x="1257300" y="4705350"/>
            <a:ext cx="3143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160" name="特征处理 + 优先级分类"/>
          <p:cNvSpPr>
            <a:spLocks noGrp="1"/>
          </p:cNvSpPr>
          <p:nvPr/>
        </p:nvSpPr>
        <p:spPr>
          <a:xfrm>
            <a:off x="1257300" y="4705350"/>
            <a:ext cx="3143250" cy="165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特征处理 + 优先级分类</a:t>
            </a:r>
          </a:p>
        </p:txBody>
      </p:sp>
      <p:sp>
        <p:nvSpPr>
          <p:cNvPr id="162" name="矩形"/>
          <p:cNvSpPr>
            <a:spLocks noGrp="1"/>
          </p:cNvSpPr>
          <p:nvPr/>
        </p:nvSpPr>
        <p:spPr>
          <a:xfrm>
            <a:off x="5810250" y="2247900"/>
            <a:ext cx="4476750" cy="1295400"/>
          </a:xfrm>
          <a:prstGeom prst="rect">
            <a:avLst/>
          </a:prstGeom>
          <a:solidFill>
            <a:srgbClr val="101B2E"/>
          </a:solidFill>
          <a:ln>
            <a:solidFill>
              <a:srgbClr val="334155"/>
            </a:solidFill>
          </a:ln>
        </p:spPr>
        <p:txBody>
          <a:bodyPr lIns="0" tIns="0" rIns="0" bIns="0"/>
          <a:lstStyle/>
          <a:p/>
        </p:txBody>
      </p:sp>
      <p:sp>
        <p:nvSpPr>
          <p:cNvPr id="163" name="矩形"/>
          <p:cNvSpPr>
            <a:spLocks noGrp="1"/>
          </p:cNvSpPr>
          <p:nvPr/>
        </p:nvSpPr>
        <p:spPr>
          <a:xfrm>
            <a:off x="6076950" y="24574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2DD4B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164" name="工程取舍"/>
          <p:cNvSpPr>
            <a:spLocks noGrp="1"/>
          </p:cNvSpPr>
          <p:nvPr/>
        </p:nvSpPr>
        <p:spPr>
          <a:xfrm>
            <a:off x="6076950" y="2457450"/>
            <a:ext cx="1047750" cy="266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500">
                <a:solidFill>
                  <a:srgbClr val="2DD4B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工程取舍</a:t>
            </a:r>
          </a:p>
        </p:txBody>
      </p:sp>
      <p:sp>
        <p:nvSpPr>
          <p:cNvPr id="166" name="矩形"/>
          <p:cNvSpPr>
            <a:spLocks noGrp="1"/>
          </p:cNvSpPr>
          <p:nvPr/>
        </p:nvSpPr>
        <p:spPr>
          <a:xfrm>
            <a:off x="6076950" y="2857500"/>
            <a:ext cx="3619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167" name="不引入复杂账号系统或云服务；把重点放在“任务风险判断”与“完成反馈闭环”。"/>
          <p:cNvSpPr>
            <a:spLocks noGrp="1"/>
          </p:cNvSpPr>
          <p:nvPr/>
        </p:nvSpPr>
        <p:spPr>
          <a:xfrm>
            <a:off x="6076950" y="2857500"/>
            <a:ext cx="3619500" cy="533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5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不引入复杂账号系统或云服务；把重点放在“任务风险判断”与“完成反馈闭环”。</a:t>
            </a:r>
          </a:p>
        </p:txBody>
      </p:sp>
      <p:sp>
        <p:nvSpPr>
          <p:cNvPr id="169" name="矩形"/>
          <p:cNvSpPr>
            <a:spLocks noGrp="1"/>
          </p:cNvSpPr>
          <p:nvPr/>
        </p:nvSpPr>
        <p:spPr>
          <a:xfrm>
            <a:off x="5810250" y="3943350"/>
            <a:ext cx="1504950" cy="819150"/>
          </a:xfrm>
          <a:prstGeom prst="rect">
            <a:avLst/>
          </a:prstGeom>
          <a:solidFill>
            <a:srgbClr val="0A1B33"/>
          </a:solidFill>
          <a:ln>
            <a:solidFill>
              <a:srgbClr val="1E3A5F"/>
            </a:solidFill>
          </a:ln>
        </p:spPr>
        <p:txBody>
          <a:bodyPr lIns="0" tIns="0" rIns="0" bIns="0"/>
          <a:lstStyle/>
          <a:p/>
        </p:txBody>
      </p:sp>
      <p:sp>
        <p:nvSpPr>
          <p:cNvPr id="170" name="矩形"/>
          <p:cNvSpPr>
            <a:spLocks noGrp="1"/>
          </p:cNvSpPr>
          <p:nvPr/>
        </p:nvSpPr>
        <p:spPr>
          <a:xfrm>
            <a:off x="5962650" y="4038600"/>
            <a:ext cx="1200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3B82F6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171" name="Flask"/>
          <p:cNvSpPr>
            <a:spLocks noGrp="1"/>
          </p:cNvSpPr>
          <p:nvPr/>
        </p:nvSpPr>
        <p:spPr>
          <a:xfrm>
            <a:off x="5962650" y="4038600"/>
            <a:ext cx="1200150" cy="3175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2100" b="1">
                <a:solidFill>
                  <a:srgbClr val="3B82F6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r>
              <a:t>Flask</a:t>
            </a:r>
          </a:p>
        </p:txBody>
      </p:sp>
      <p:sp>
        <p:nvSpPr>
          <p:cNvPr id="173" name="矩形"/>
          <p:cNvSpPr>
            <a:spLocks noGrp="1"/>
          </p:cNvSpPr>
          <p:nvPr/>
        </p:nvSpPr>
        <p:spPr>
          <a:xfrm>
            <a:off x="5962650" y="4457700"/>
            <a:ext cx="1200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174" name="网页端可交互运行"/>
          <p:cNvSpPr>
            <a:spLocks noGrp="1"/>
          </p:cNvSpPr>
          <p:nvPr/>
        </p:nvSpPr>
        <p:spPr>
          <a:xfrm>
            <a:off x="5962650" y="4457700"/>
            <a:ext cx="1200150" cy="165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网页端可交互运行</a:t>
            </a:r>
          </a:p>
        </p:txBody>
      </p:sp>
      <p:sp>
        <p:nvSpPr>
          <p:cNvPr id="176" name="矩形"/>
          <p:cNvSpPr>
            <a:spLocks noGrp="1"/>
          </p:cNvSpPr>
          <p:nvPr/>
        </p:nvSpPr>
        <p:spPr>
          <a:xfrm>
            <a:off x="7524750" y="3943350"/>
            <a:ext cx="1314450" cy="819150"/>
          </a:xfrm>
          <a:prstGeom prst="rect">
            <a:avLst/>
          </a:prstGeom>
          <a:solidFill>
            <a:srgbClr val="0A1B33"/>
          </a:solidFill>
          <a:ln>
            <a:solidFill>
              <a:srgbClr val="1E3A5F"/>
            </a:solidFill>
          </a:ln>
        </p:spPr>
        <p:txBody>
          <a:bodyPr lIns="0" tIns="0" rIns="0" bIns="0"/>
          <a:lstStyle/>
          <a:p/>
        </p:txBody>
      </p:sp>
      <p:sp>
        <p:nvSpPr>
          <p:cNvPr id="177" name="矩形"/>
          <p:cNvSpPr>
            <a:spLocks noGrp="1"/>
          </p:cNvSpPr>
          <p:nvPr/>
        </p:nvSpPr>
        <p:spPr>
          <a:xfrm>
            <a:off x="7677150" y="4038600"/>
            <a:ext cx="10096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178" name="CSV"/>
          <p:cNvSpPr>
            <a:spLocks noGrp="1"/>
          </p:cNvSpPr>
          <p:nvPr/>
        </p:nvSpPr>
        <p:spPr>
          <a:xfrm>
            <a:off x="7677150" y="4038600"/>
            <a:ext cx="1009650" cy="3175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210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r>
              <a:t>CSV</a:t>
            </a:r>
          </a:p>
        </p:txBody>
      </p:sp>
      <p:sp>
        <p:nvSpPr>
          <p:cNvPr id="180" name="矩形"/>
          <p:cNvSpPr>
            <a:spLocks noGrp="1"/>
          </p:cNvSpPr>
          <p:nvPr/>
        </p:nvSpPr>
        <p:spPr>
          <a:xfrm>
            <a:off x="7677150" y="4457700"/>
            <a:ext cx="1009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181" name="本地轻量存储"/>
          <p:cNvSpPr>
            <a:spLocks noGrp="1"/>
          </p:cNvSpPr>
          <p:nvPr/>
        </p:nvSpPr>
        <p:spPr>
          <a:xfrm>
            <a:off x="7677150" y="4457700"/>
            <a:ext cx="1009650" cy="165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本地轻量存储</a:t>
            </a:r>
          </a:p>
        </p:txBody>
      </p:sp>
      <p:sp>
        <p:nvSpPr>
          <p:cNvPr id="183" name="矩形"/>
          <p:cNvSpPr>
            <a:spLocks noGrp="1"/>
          </p:cNvSpPr>
          <p:nvPr/>
        </p:nvSpPr>
        <p:spPr>
          <a:xfrm>
            <a:off x="9048750" y="3943350"/>
            <a:ext cx="1314450" cy="819150"/>
          </a:xfrm>
          <a:prstGeom prst="rect">
            <a:avLst/>
          </a:prstGeom>
          <a:solidFill>
            <a:srgbClr val="0A1B33"/>
          </a:solidFill>
          <a:ln>
            <a:solidFill>
              <a:srgbClr val="1E3A5F"/>
            </a:solidFill>
          </a:ln>
        </p:spPr>
        <p:txBody>
          <a:bodyPr lIns="0" tIns="0" rIns="0" bIns="0"/>
          <a:lstStyle/>
          <a:p/>
        </p:txBody>
      </p:sp>
      <p:sp>
        <p:nvSpPr>
          <p:cNvPr id="184" name="矩形"/>
          <p:cNvSpPr>
            <a:spLocks noGrp="1"/>
          </p:cNvSpPr>
          <p:nvPr/>
        </p:nvSpPr>
        <p:spPr>
          <a:xfrm>
            <a:off x="9201150" y="4038600"/>
            <a:ext cx="10096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185" name="RF"/>
          <p:cNvSpPr>
            <a:spLocks noGrp="1"/>
          </p:cNvSpPr>
          <p:nvPr/>
        </p:nvSpPr>
        <p:spPr>
          <a:xfrm>
            <a:off x="9201150" y="4038600"/>
            <a:ext cx="1009650" cy="3175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2100" b="1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r>
              <a:t>RF</a:t>
            </a:r>
          </a:p>
        </p:txBody>
      </p:sp>
      <p:sp>
        <p:nvSpPr>
          <p:cNvPr id="187" name="矩形"/>
          <p:cNvSpPr>
            <a:spLocks noGrp="1"/>
          </p:cNvSpPr>
          <p:nvPr/>
        </p:nvSpPr>
        <p:spPr>
          <a:xfrm>
            <a:off x="9201150" y="4457700"/>
            <a:ext cx="1009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188" name="随机森林分类器"/>
          <p:cNvSpPr>
            <a:spLocks noGrp="1"/>
          </p:cNvSpPr>
          <p:nvPr/>
        </p:nvSpPr>
        <p:spPr>
          <a:xfrm>
            <a:off x="9201150" y="4457700"/>
            <a:ext cx="1009650" cy="165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随机森林分类器</a:t>
            </a:r>
          </a:p>
        </p:txBody>
      </p:sp>
      <p:sp>
        <p:nvSpPr>
          <p:cNvPr id="190" name="矩形"/>
          <p:cNvSpPr>
            <a:spLocks noGrp="1"/>
          </p:cNvSpPr>
          <p:nvPr/>
        </p:nvSpPr>
        <p:spPr>
          <a:xfrm>
            <a:off x="666750" y="6448425"/>
            <a:ext cx="7620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700">
                <a:solidFill>
                  <a:srgbClr val="7F8EA8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191" name="Source: requirements.txt, app.py, storage.py, model.py"/>
          <p:cNvSpPr>
            <a:spLocks noGrp="1"/>
          </p:cNvSpPr>
          <p:nvPr/>
        </p:nvSpPr>
        <p:spPr>
          <a:xfrm>
            <a:off x="666750" y="6448425"/>
            <a:ext cx="7620000" cy="127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700">
                <a:solidFill>
                  <a:srgbClr val="7F8EA8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Source: requirements.txt, app.py, storage.py, model.py</a:t>
            </a:r>
          </a:p>
        </p:txBody>
      </p:sp>
      <p:sp>
        <p:nvSpPr>
          <p:cNvPr id="193" name="矩形"/>
          <p:cNvSpPr>
            <a:spLocks noGrp="1"/>
          </p:cNvSpPr>
          <p:nvPr/>
        </p:nvSpPr>
        <p:spPr>
          <a:xfrm>
            <a:off x="11106150" y="6429375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900" b="1">
                <a:solidFill>
                  <a:srgbClr val="7F8EA8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194" name="02"/>
          <p:cNvSpPr>
            <a:spLocks noGrp="1"/>
          </p:cNvSpPr>
          <p:nvPr/>
        </p:nvSpPr>
        <p:spPr>
          <a:xfrm>
            <a:off x="11106150" y="6429375"/>
            <a:ext cx="419100" cy="139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 algn="r">
              <a:buNone/>
              <a:defRPr sz="900" b="1">
                <a:solidFill>
                  <a:srgbClr val="7F8EA8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9" name="矩形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426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200" name="矩形"/>
          <p:cNvSpPr>
            <a:spLocks noGrp="1"/>
          </p:cNvSpPr>
          <p:nvPr/>
        </p:nvSpPr>
        <p:spPr>
          <a:xfrm>
            <a:off x="8591550" y="0"/>
            <a:ext cx="3600450" cy="6858000"/>
          </a:xfrm>
          <a:prstGeom prst="rect">
            <a:avLst/>
          </a:prstGeom>
          <a:solidFill>
            <a:srgbClr val="091B35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201" name="矩形"/>
          <p:cNvSpPr>
            <a:spLocks noGrp="1"/>
          </p:cNvSpPr>
          <p:nvPr/>
        </p:nvSpPr>
        <p:spPr>
          <a:xfrm>
            <a:off x="8629650" y="0"/>
            <a:ext cx="19050" cy="6858000"/>
          </a:xfrm>
          <a:prstGeom prst="rect">
            <a:avLst/>
          </a:prstGeom>
          <a:solidFill>
            <a:srgbClr val="123A63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202" name="矩形"/>
          <p:cNvSpPr>
            <a:spLocks noGrp="1"/>
          </p:cNvSpPr>
          <p:nvPr/>
        </p:nvSpPr>
        <p:spPr>
          <a:xfrm>
            <a:off x="666750" y="1122362"/>
            <a:ext cx="7524750" cy="12701"/>
          </a:xfrm>
          <a:prstGeom prst="rect">
            <a:avLst/>
          </a:prstGeom>
          <a:solidFill>
            <a:srgbClr val="28435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203" name="矩形"/>
          <p:cNvSpPr>
            <a:spLocks noGrp="1"/>
          </p:cNvSpPr>
          <p:nvPr/>
        </p:nvSpPr>
        <p:spPr>
          <a:xfrm>
            <a:off x="666750" y="6342062"/>
            <a:ext cx="10858500" cy="12701"/>
          </a:xfrm>
          <a:prstGeom prst="rect">
            <a:avLst/>
          </a:prstGeom>
          <a:solidFill>
            <a:srgbClr val="173456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204" name="kicker-marker"/>
          <p:cNvSpPr>
            <a:spLocks noGrp="1"/>
          </p:cNvSpPr>
          <p:nvPr/>
        </p:nvSpPr>
        <p:spPr>
          <a:xfrm>
            <a:off x="666750" y="476250"/>
            <a:ext cx="76200" cy="76200"/>
          </a:xfrm>
          <a:prstGeom prst="rect">
            <a:avLst/>
          </a:prstGeom>
          <a:solidFill>
            <a:srgbClr val="8B5CF6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205" name="矩形"/>
          <p:cNvSpPr>
            <a:spLocks noGrp="1"/>
          </p:cNvSpPr>
          <p:nvPr/>
        </p:nvSpPr>
        <p:spPr>
          <a:xfrm>
            <a:off x="838200" y="4191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90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206" name="DESIGN THINKING"/>
          <p:cNvSpPr>
            <a:spLocks noGrp="1"/>
          </p:cNvSpPr>
          <p:nvPr/>
        </p:nvSpPr>
        <p:spPr>
          <a:xfrm>
            <a:off x="838200" y="454024"/>
            <a:ext cx="3429000" cy="139701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ctr">
            <a:spAutoFit/>
          </a:bodyPr>
          <a:lstStyle>
            <a:lvl1pPr>
              <a:buNone/>
              <a:defRPr sz="900" b="1">
                <a:solidFill>
                  <a:srgbClr val="8B5CF6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DESIGN THINKING</a:t>
            </a:r>
          </a:p>
        </p:txBody>
      </p:sp>
      <p:sp>
        <p:nvSpPr>
          <p:cNvPr id="208" name="矩形"/>
          <p:cNvSpPr>
            <a:spLocks noGrp="1"/>
          </p:cNvSpPr>
          <p:nvPr/>
        </p:nvSpPr>
        <p:spPr>
          <a:xfrm>
            <a:off x="666750" y="723900"/>
            <a:ext cx="8001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7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209" name="设计思路：让 AI 提醒关注，而不是替用户排满"/>
          <p:cNvSpPr>
            <a:spLocks noGrp="1"/>
          </p:cNvSpPr>
          <p:nvPr/>
        </p:nvSpPr>
        <p:spPr>
          <a:xfrm>
            <a:off x="666750" y="723900"/>
            <a:ext cx="8001000" cy="482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27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设计思路：让 AI 提醒关注，而不是替用户排满</a:t>
            </a:r>
          </a:p>
        </p:txBody>
      </p:sp>
      <p:sp>
        <p:nvSpPr>
          <p:cNvPr id="211" name="矩形"/>
          <p:cNvSpPr>
            <a:spLocks noGrp="1"/>
          </p:cNvSpPr>
          <p:nvPr/>
        </p:nvSpPr>
        <p:spPr>
          <a:xfrm>
            <a:off x="685800" y="1352550"/>
            <a:ext cx="685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4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212" name="项目核心是任务录入、优先级预测、建议展示、完成反馈和积分激励。"/>
          <p:cNvSpPr>
            <a:spLocks noGrp="1"/>
          </p:cNvSpPr>
          <p:nvPr/>
        </p:nvSpPr>
        <p:spPr>
          <a:xfrm>
            <a:off x="685800" y="1352550"/>
            <a:ext cx="6858000" cy="254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4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项目核心是任务录入、优先级预测、建议展示、完成反馈和积分激励。</a:t>
            </a:r>
          </a:p>
        </p:txBody>
      </p:sp>
      <p:sp>
        <p:nvSpPr>
          <p:cNvPr id="214" name="矩形"/>
          <p:cNvSpPr>
            <a:spLocks noGrp="1"/>
          </p:cNvSpPr>
          <p:nvPr/>
        </p:nvSpPr>
        <p:spPr>
          <a:xfrm>
            <a:off x="819150" y="20764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F59E0B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215" name="学生痛点"/>
          <p:cNvSpPr>
            <a:spLocks noGrp="1"/>
          </p:cNvSpPr>
          <p:nvPr/>
        </p:nvSpPr>
        <p:spPr>
          <a:xfrm>
            <a:off x="819150" y="2076450"/>
            <a:ext cx="2095500" cy="266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500">
                <a:solidFill>
                  <a:srgbClr val="F59E0B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学生痛点</a:t>
            </a:r>
          </a:p>
        </p:txBody>
      </p:sp>
      <p:sp>
        <p:nvSpPr>
          <p:cNvPr id="217" name="矩形"/>
          <p:cNvSpPr>
            <a:spLocks noGrp="1"/>
          </p:cNvSpPr>
          <p:nvPr/>
        </p:nvSpPr>
        <p:spPr>
          <a:xfrm>
            <a:off x="7086600" y="20764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2DD4B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218" name="设计回应"/>
          <p:cNvSpPr>
            <a:spLocks noGrp="1"/>
          </p:cNvSpPr>
          <p:nvPr/>
        </p:nvSpPr>
        <p:spPr>
          <a:xfrm>
            <a:off x="7086600" y="2076450"/>
            <a:ext cx="2476500" cy="266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500">
                <a:solidFill>
                  <a:srgbClr val="2DD4B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设计回应</a:t>
            </a:r>
          </a:p>
        </p:txBody>
      </p:sp>
      <p:sp>
        <p:nvSpPr>
          <p:cNvPr id="220" name="矩形"/>
          <p:cNvSpPr>
            <a:spLocks noGrp="1"/>
          </p:cNvSpPr>
          <p:nvPr/>
        </p:nvSpPr>
        <p:spPr>
          <a:xfrm>
            <a:off x="819150" y="2571750"/>
            <a:ext cx="3790950" cy="628650"/>
          </a:xfrm>
          <a:prstGeom prst="rect">
            <a:avLst/>
          </a:prstGeom>
          <a:solidFill>
            <a:srgbClr val="101B2E"/>
          </a:solidFill>
          <a:ln>
            <a:solidFill>
              <a:srgbClr val="334155"/>
            </a:solidFill>
          </a:ln>
        </p:spPr>
        <p:txBody>
          <a:bodyPr lIns="0" tIns="0" rIns="0" bIns="0"/>
          <a:lstStyle/>
          <a:p/>
        </p:txBody>
      </p:sp>
      <p:sp>
        <p:nvSpPr>
          <p:cNvPr id="221" name="矩形"/>
          <p:cNvSpPr>
            <a:spLocks noGrp="1"/>
          </p:cNvSpPr>
          <p:nvPr/>
        </p:nvSpPr>
        <p:spPr>
          <a:xfrm>
            <a:off x="1028700" y="26860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222" name="任务来源分散"/>
          <p:cNvSpPr>
            <a:spLocks noGrp="1"/>
          </p:cNvSpPr>
          <p:nvPr/>
        </p:nvSpPr>
        <p:spPr>
          <a:xfrm>
            <a:off x="1028700" y="2686050"/>
            <a:ext cx="1905000" cy="266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5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任务来源分散</a:t>
            </a:r>
          </a:p>
        </p:txBody>
      </p:sp>
      <p:sp>
        <p:nvSpPr>
          <p:cNvPr id="224" name="矩形"/>
          <p:cNvSpPr>
            <a:spLocks noGrp="1"/>
          </p:cNvSpPr>
          <p:nvPr/>
        </p:nvSpPr>
        <p:spPr>
          <a:xfrm>
            <a:off x="1028700" y="295275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225" name="课程、作业、实验、项目混在一起"/>
          <p:cNvSpPr>
            <a:spLocks noGrp="1"/>
          </p:cNvSpPr>
          <p:nvPr/>
        </p:nvSpPr>
        <p:spPr>
          <a:xfrm>
            <a:off x="1028700" y="2952750"/>
            <a:ext cx="3048000" cy="177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0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课程、作业、实验、项目混在一起</a:t>
            </a:r>
          </a:p>
        </p:txBody>
      </p:sp>
      <p:sp>
        <p:nvSpPr>
          <p:cNvPr id="227" name="矩形"/>
          <p:cNvSpPr>
            <a:spLocks noGrp="1"/>
          </p:cNvSpPr>
          <p:nvPr/>
        </p:nvSpPr>
        <p:spPr>
          <a:xfrm>
            <a:off x="819150" y="3486150"/>
            <a:ext cx="3790950" cy="628650"/>
          </a:xfrm>
          <a:prstGeom prst="rect">
            <a:avLst/>
          </a:prstGeom>
          <a:solidFill>
            <a:srgbClr val="101B2E"/>
          </a:solidFill>
          <a:ln>
            <a:solidFill>
              <a:srgbClr val="334155"/>
            </a:solidFill>
          </a:ln>
        </p:spPr>
        <p:txBody>
          <a:bodyPr lIns="0" tIns="0" rIns="0" bIns="0"/>
          <a:lstStyle/>
          <a:p/>
        </p:txBody>
      </p:sp>
      <p:sp>
        <p:nvSpPr>
          <p:cNvPr id="228" name="矩形"/>
          <p:cNvSpPr>
            <a:spLocks noGrp="1"/>
          </p:cNvSpPr>
          <p:nvPr/>
        </p:nvSpPr>
        <p:spPr>
          <a:xfrm>
            <a:off x="1028700" y="36004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229" name="DDL 不统一"/>
          <p:cNvSpPr>
            <a:spLocks noGrp="1"/>
          </p:cNvSpPr>
          <p:nvPr/>
        </p:nvSpPr>
        <p:spPr>
          <a:xfrm>
            <a:off x="1028700" y="3600450"/>
            <a:ext cx="1905000" cy="266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5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DDL 不统一</a:t>
            </a:r>
          </a:p>
        </p:txBody>
      </p:sp>
      <p:sp>
        <p:nvSpPr>
          <p:cNvPr id="231" name="矩形"/>
          <p:cNvSpPr>
            <a:spLocks noGrp="1"/>
          </p:cNvSpPr>
          <p:nvPr/>
        </p:nvSpPr>
        <p:spPr>
          <a:xfrm>
            <a:off x="1028700" y="386715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232" name="临近截止时才发现压力堆积"/>
          <p:cNvSpPr>
            <a:spLocks noGrp="1"/>
          </p:cNvSpPr>
          <p:nvPr/>
        </p:nvSpPr>
        <p:spPr>
          <a:xfrm>
            <a:off x="1028700" y="3867150"/>
            <a:ext cx="3048000" cy="177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0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临近截止时才发现压力堆积</a:t>
            </a:r>
          </a:p>
        </p:txBody>
      </p:sp>
      <p:sp>
        <p:nvSpPr>
          <p:cNvPr id="234" name="矩形"/>
          <p:cNvSpPr>
            <a:spLocks noGrp="1"/>
          </p:cNvSpPr>
          <p:nvPr/>
        </p:nvSpPr>
        <p:spPr>
          <a:xfrm>
            <a:off x="819150" y="4400550"/>
            <a:ext cx="3790950" cy="628650"/>
          </a:xfrm>
          <a:prstGeom prst="rect">
            <a:avLst/>
          </a:prstGeom>
          <a:solidFill>
            <a:srgbClr val="101B2E"/>
          </a:solidFill>
          <a:ln>
            <a:solidFill>
              <a:srgbClr val="334155"/>
            </a:solidFill>
          </a:ln>
        </p:spPr>
        <p:txBody>
          <a:bodyPr lIns="0" tIns="0" rIns="0" bIns="0"/>
          <a:lstStyle/>
          <a:p/>
        </p:txBody>
      </p:sp>
      <p:sp>
        <p:nvSpPr>
          <p:cNvPr id="235" name="矩形"/>
          <p:cNvSpPr>
            <a:spLocks noGrp="1"/>
          </p:cNvSpPr>
          <p:nvPr/>
        </p:nvSpPr>
        <p:spPr>
          <a:xfrm>
            <a:off x="1028700" y="45148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236" name="优先级难判断"/>
          <p:cNvSpPr>
            <a:spLocks noGrp="1"/>
          </p:cNvSpPr>
          <p:nvPr/>
        </p:nvSpPr>
        <p:spPr>
          <a:xfrm>
            <a:off x="1028700" y="4514850"/>
            <a:ext cx="1905000" cy="266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5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优先级难判断</a:t>
            </a:r>
          </a:p>
        </p:txBody>
      </p:sp>
      <p:sp>
        <p:nvSpPr>
          <p:cNvPr id="238" name="矩形"/>
          <p:cNvSpPr>
            <a:spLocks noGrp="1"/>
          </p:cNvSpPr>
          <p:nvPr/>
        </p:nvSpPr>
        <p:spPr>
          <a:xfrm>
            <a:off x="1028700" y="4781550"/>
            <a:ext cx="304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239" name="耗时、难度、重要程度很难同时比较"/>
          <p:cNvSpPr>
            <a:spLocks noGrp="1"/>
          </p:cNvSpPr>
          <p:nvPr/>
        </p:nvSpPr>
        <p:spPr>
          <a:xfrm>
            <a:off x="1028700" y="4781550"/>
            <a:ext cx="3048000" cy="177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0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耗时、难度、重要程度很难同时比较</a:t>
            </a:r>
          </a:p>
        </p:txBody>
      </p:sp>
      <p:sp>
        <p:nvSpPr>
          <p:cNvPr id="241" name="矩形"/>
          <p:cNvSpPr>
            <a:spLocks noGrp="1"/>
          </p:cNvSpPr>
          <p:nvPr/>
        </p:nvSpPr>
        <p:spPr>
          <a:xfrm>
            <a:off x="7086600" y="2571750"/>
            <a:ext cx="3790950" cy="628650"/>
          </a:xfrm>
          <a:prstGeom prst="rect">
            <a:avLst/>
          </a:prstGeom>
          <a:solidFill>
            <a:srgbClr val="0E253B"/>
          </a:solidFill>
          <a:ln>
            <a:solidFill>
              <a:srgbClr val="266B8A"/>
            </a:solidFill>
          </a:ln>
        </p:spPr>
        <p:txBody>
          <a:bodyPr lIns="0" tIns="0" rIns="0" bIns="0"/>
          <a:lstStyle/>
          <a:p/>
        </p:txBody>
      </p:sp>
      <p:sp>
        <p:nvSpPr>
          <p:cNvPr id="242" name="矩形"/>
          <p:cNvSpPr>
            <a:spLocks noGrp="1"/>
          </p:cNvSpPr>
          <p:nvPr/>
        </p:nvSpPr>
        <p:spPr>
          <a:xfrm>
            <a:off x="7296150" y="26860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243" name="轻量输入"/>
          <p:cNvSpPr>
            <a:spLocks noGrp="1"/>
          </p:cNvSpPr>
          <p:nvPr/>
        </p:nvSpPr>
        <p:spPr>
          <a:xfrm>
            <a:off x="7296150" y="2686050"/>
            <a:ext cx="1905000" cy="266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5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轻量输入</a:t>
            </a:r>
          </a:p>
        </p:txBody>
      </p:sp>
      <p:sp>
        <p:nvSpPr>
          <p:cNvPr id="245" name="矩形"/>
          <p:cNvSpPr>
            <a:spLocks noGrp="1"/>
          </p:cNvSpPr>
          <p:nvPr/>
        </p:nvSpPr>
        <p:spPr>
          <a:xfrm>
            <a:off x="7296150" y="2952750"/>
            <a:ext cx="3105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246" name="尽量少填，但保留关键特征"/>
          <p:cNvSpPr>
            <a:spLocks noGrp="1"/>
          </p:cNvSpPr>
          <p:nvPr/>
        </p:nvSpPr>
        <p:spPr>
          <a:xfrm>
            <a:off x="7296150" y="2952750"/>
            <a:ext cx="3105150" cy="177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0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尽量少填，但保留关键特征</a:t>
            </a:r>
          </a:p>
        </p:txBody>
      </p:sp>
      <p:sp>
        <p:nvSpPr>
          <p:cNvPr id="248" name="矩形"/>
          <p:cNvSpPr>
            <a:spLocks noGrp="1"/>
          </p:cNvSpPr>
          <p:nvPr/>
        </p:nvSpPr>
        <p:spPr>
          <a:xfrm>
            <a:off x="7086600" y="3486150"/>
            <a:ext cx="3790950" cy="628650"/>
          </a:xfrm>
          <a:prstGeom prst="rect">
            <a:avLst/>
          </a:prstGeom>
          <a:solidFill>
            <a:srgbClr val="0E253B"/>
          </a:solidFill>
          <a:ln>
            <a:solidFill>
              <a:srgbClr val="266B8A"/>
            </a:solidFill>
          </a:ln>
        </p:spPr>
        <p:txBody>
          <a:bodyPr lIns="0" tIns="0" rIns="0" bIns="0"/>
          <a:lstStyle/>
          <a:p/>
        </p:txBody>
      </p:sp>
      <p:sp>
        <p:nvSpPr>
          <p:cNvPr id="249" name="矩形"/>
          <p:cNvSpPr>
            <a:spLocks noGrp="1"/>
          </p:cNvSpPr>
          <p:nvPr/>
        </p:nvSpPr>
        <p:spPr>
          <a:xfrm>
            <a:off x="7296150" y="36004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250" name="可解释推荐"/>
          <p:cNvSpPr>
            <a:spLocks noGrp="1"/>
          </p:cNvSpPr>
          <p:nvPr/>
        </p:nvSpPr>
        <p:spPr>
          <a:xfrm>
            <a:off x="7296150" y="3600450"/>
            <a:ext cx="1905000" cy="266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5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可解释推荐</a:t>
            </a:r>
          </a:p>
        </p:txBody>
      </p:sp>
      <p:sp>
        <p:nvSpPr>
          <p:cNvPr id="252" name="矩形"/>
          <p:cNvSpPr>
            <a:spLocks noGrp="1"/>
          </p:cNvSpPr>
          <p:nvPr/>
        </p:nvSpPr>
        <p:spPr>
          <a:xfrm>
            <a:off x="7296150" y="3867150"/>
            <a:ext cx="3105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253" name="不仅给等级，也说明原因"/>
          <p:cNvSpPr>
            <a:spLocks noGrp="1"/>
          </p:cNvSpPr>
          <p:nvPr/>
        </p:nvSpPr>
        <p:spPr>
          <a:xfrm>
            <a:off x="7296150" y="3867150"/>
            <a:ext cx="3105150" cy="177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0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不仅给等级，也说明原因</a:t>
            </a:r>
          </a:p>
        </p:txBody>
      </p:sp>
      <p:sp>
        <p:nvSpPr>
          <p:cNvPr id="255" name="矩形"/>
          <p:cNvSpPr>
            <a:spLocks noGrp="1"/>
          </p:cNvSpPr>
          <p:nvPr/>
        </p:nvSpPr>
        <p:spPr>
          <a:xfrm>
            <a:off x="7086600" y="4400550"/>
            <a:ext cx="3790950" cy="628650"/>
          </a:xfrm>
          <a:prstGeom prst="rect">
            <a:avLst/>
          </a:prstGeom>
          <a:solidFill>
            <a:srgbClr val="0E253B"/>
          </a:solidFill>
          <a:ln>
            <a:solidFill>
              <a:srgbClr val="266B8A"/>
            </a:solidFill>
          </a:ln>
        </p:spPr>
        <p:txBody>
          <a:bodyPr lIns="0" tIns="0" rIns="0" bIns="0"/>
          <a:lstStyle/>
          <a:p/>
        </p:txBody>
      </p:sp>
      <p:sp>
        <p:nvSpPr>
          <p:cNvPr id="256" name="矩形"/>
          <p:cNvSpPr>
            <a:spLocks noGrp="1"/>
          </p:cNvSpPr>
          <p:nvPr/>
        </p:nvSpPr>
        <p:spPr>
          <a:xfrm>
            <a:off x="7296150" y="45148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257" name="正反馈闭环"/>
          <p:cNvSpPr>
            <a:spLocks noGrp="1"/>
          </p:cNvSpPr>
          <p:nvPr/>
        </p:nvSpPr>
        <p:spPr>
          <a:xfrm>
            <a:off x="7296150" y="4514850"/>
            <a:ext cx="1905000" cy="266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5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正反馈闭环</a:t>
            </a:r>
          </a:p>
        </p:txBody>
      </p:sp>
      <p:sp>
        <p:nvSpPr>
          <p:cNvPr id="259" name="矩形"/>
          <p:cNvSpPr>
            <a:spLocks noGrp="1"/>
          </p:cNvSpPr>
          <p:nvPr/>
        </p:nvSpPr>
        <p:spPr>
          <a:xfrm>
            <a:off x="7296150" y="4781550"/>
            <a:ext cx="3105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0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260" name="完成任务后给积分与成就感"/>
          <p:cNvSpPr>
            <a:spLocks noGrp="1"/>
          </p:cNvSpPr>
          <p:nvPr/>
        </p:nvSpPr>
        <p:spPr>
          <a:xfrm>
            <a:off x="7296150" y="4781550"/>
            <a:ext cx="3105150" cy="177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0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完成任务后给积分与成就感</a:t>
            </a:r>
          </a:p>
        </p:txBody>
      </p:sp>
      <p:sp>
        <p:nvSpPr>
          <p:cNvPr id="262" name="矩形"/>
          <p:cNvSpPr>
            <a:spLocks noGrp="1"/>
          </p:cNvSpPr>
          <p:nvPr/>
        </p:nvSpPr>
        <p:spPr>
          <a:xfrm>
            <a:off x="5086350" y="2705100"/>
            <a:ext cx="1466850" cy="2000250"/>
          </a:xfrm>
          <a:prstGeom prst="rect">
            <a:avLst/>
          </a:prstGeom>
          <a:solidFill>
            <a:srgbClr val="0A1B33"/>
          </a:solidFill>
          <a:ln>
            <a:solidFill>
              <a:srgbClr val="1E3A5F"/>
            </a:solidFill>
          </a:ln>
        </p:spPr>
        <p:txBody>
          <a:bodyPr lIns="0" tIns="0" rIns="0" bIns="0"/>
          <a:lstStyle/>
          <a:p/>
        </p:txBody>
      </p:sp>
      <p:sp>
        <p:nvSpPr>
          <p:cNvPr id="263" name="矩形"/>
          <p:cNvSpPr>
            <a:spLocks noGrp="1"/>
          </p:cNvSpPr>
          <p:nvPr/>
        </p:nvSpPr>
        <p:spPr>
          <a:xfrm>
            <a:off x="5314950" y="2952750"/>
            <a:ext cx="10096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00">
                <a:solidFill>
                  <a:srgbClr val="2DD4B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264" name="核心判断"/>
          <p:cNvSpPr>
            <a:spLocks noGrp="1"/>
          </p:cNvSpPr>
          <p:nvPr/>
        </p:nvSpPr>
        <p:spPr>
          <a:xfrm>
            <a:off x="5314950" y="2952750"/>
            <a:ext cx="1009650" cy="266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 algn="ctr">
              <a:buNone/>
              <a:defRPr sz="1500">
                <a:solidFill>
                  <a:srgbClr val="2DD4B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核心判断</a:t>
            </a:r>
          </a:p>
        </p:txBody>
      </p:sp>
      <p:sp>
        <p:nvSpPr>
          <p:cNvPr id="266" name="矩形"/>
          <p:cNvSpPr>
            <a:spLocks noGrp="1"/>
          </p:cNvSpPr>
          <p:nvPr/>
        </p:nvSpPr>
        <p:spPr>
          <a:xfrm>
            <a:off x="5314950" y="3390900"/>
            <a:ext cx="10096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6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267" name="谁更急？…"/>
          <p:cNvSpPr>
            <a:spLocks noGrp="1"/>
          </p:cNvSpPr>
          <p:nvPr/>
        </p:nvSpPr>
        <p:spPr>
          <a:xfrm>
            <a:off x="5314950" y="3390900"/>
            <a:ext cx="1009650" cy="1117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buNone/>
              <a:defRPr sz="16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t>谁更急？</a:t>
            </a:r>
          </a:p>
          <a:p>
            <a:pPr algn="ctr">
              <a:buNone/>
              <a:defRPr sz="16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t>为什么？</a:t>
            </a:r>
          </a:p>
          <a:p>
            <a:pPr algn="ctr">
              <a:buNone/>
              <a:defRPr sz="16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t>做完后如何继续？</a:t>
            </a:r>
          </a:p>
        </p:txBody>
      </p:sp>
      <p:sp>
        <p:nvSpPr>
          <p:cNvPr id="269" name="正方形"/>
          <p:cNvSpPr>
            <a:spLocks noGrp="1"/>
          </p:cNvSpPr>
          <p:nvPr/>
        </p:nvSpPr>
        <p:spPr>
          <a:xfrm>
            <a:off x="4705350" y="3429000"/>
            <a:ext cx="323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2000">
                <a:solidFill>
                  <a:srgbClr val="8B5CF6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270" name="→"/>
          <p:cNvSpPr>
            <a:spLocks noGrp="1"/>
          </p:cNvSpPr>
          <p:nvPr/>
        </p:nvSpPr>
        <p:spPr>
          <a:xfrm>
            <a:off x="4705350" y="3429000"/>
            <a:ext cx="323850" cy="355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 algn="ctr">
              <a:buNone/>
              <a:defRPr sz="2000">
                <a:solidFill>
                  <a:srgbClr val="8B5CF6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→</a:t>
            </a:r>
          </a:p>
        </p:txBody>
      </p:sp>
      <p:sp>
        <p:nvSpPr>
          <p:cNvPr id="272" name="正方形"/>
          <p:cNvSpPr>
            <a:spLocks noGrp="1"/>
          </p:cNvSpPr>
          <p:nvPr/>
        </p:nvSpPr>
        <p:spPr>
          <a:xfrm>
            <a:off x="6629400" y="3429000"/>
            <a:ext cx="3238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2000">
                <a:solidFill>
                  <a:srgbClr val="2DD4BF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273" name="→"/>
          <p:cNvSpPr>
            <a:spLocks noGrp="1"/>
          </p:cNvSpPr>
          <p:nvPr/>
        </p:nvSpPr>
        <p:spPr>
          <a:xfrm>
            <a:off x="6629400" y="3429000"/>
            <a:ext cx="323850" cy="355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 algn="ctr">
              <a:buNone/>
              <a:defRPr sz="2000">
                <a:solidFill>
                  <a:srgbClr val="2DD4BF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→</a:t>
            </a:r>
          </a:p>
        </p:txBody>
      </p:sp>
      <p:sp>
        <p:nvSpPr>
          <p:cNvPr id="275" name="矩形"/>
          <p:cNvSpPr>
            <a:spLocks noGrp="1"/>
          </p:cNvSpPr>
          <p:nvPr/>
        </p:nvSpPr>
        <p:spPr>
          <a:xfrm>
            <a:off x="666750" y="6448425"/>
            <a:ext cx="7620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700">
                <a:solidFill>
                  <a:srgbClr val="7F8EA8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276" name="Source: project routes, storage workflow, templates/manage/today/rewards"/>
          <p:cNvSpPr>
            <a:spLocks noGrp="1"/>
          </p:cNvSpPr>
          <p:nvPr/>
        </p:nvSpPr>
        <p:spPr>
          <a:xfrm>
            <a:off x="666750" y="6448425"/>
            <a:ext cx="7620000" cy="127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700">
                <a:solidFill>
                  <a:srgbClr val="7F8EA8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Source: project routes, storage workflow, templates/manage/today/rewards</a:t>
            </a:r>
          </a:p>
        </p:txBody>
      </p:sp>
      <p:sp>
        <p:nvSpPr>
          <p:cNvPr id="278" name="矩形"/>
          <p:cNvSpPr>
            <a:spLocks noGrp="1"/>
          </p:cNvSpPr>
          <p:nvPr/>
        </p:nvSpPr>
        <p:spPr>
          <a:xfrm>
            <a:off x="11106150" y="6429375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900" b="1">
                <a:solidFill>
                  <a:srgbClr val="7F8EA8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279" name="03"/>
          <p:cNvSpPr>
            <a:spLocks noGrp="1"/>
          </p:cNvSpPr>
          <p:nvPr/>
        </p:nvSpPr>
        <p:spPr>
          <a:xfrm>
            <a:off x="11106150" y="6429375"/>
            <a:ext cx="419100" cy="139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 algn="r">
              <a:buNone/>
              <a:defRPr sz="900" b="1">
                <a:solidFill>
                  <a:srgbClr val="7F8EA8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4" name="矩形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426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285" name="矩形"/>
          <p:cNvSpPr>
            <a:spLocks noGrp="1"/>
          </p:cNvSpPr>
          <p:nvPr/>
        </p:nvSpPr>
        <p:spPr>
          <a:xfrm>
            <a:off x="8591550" y="0"/>
            <a:ext cx="3600450" cy="6858000"/>
          </a:xfrm>
          <a:prstGeom prst="rect">
            <a:avLst/>
          </a:prstGeom>
          <a:solidFill>
            <a:srgbClr val="091B35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286" name="矩形"/>
          <p:cNvSpPr>
            <a:spLocks noGrp="1"/>
          </p:cNvSpPr>
          <p:nvPr/>
        </p:nvSpPr>
        <p:spPr>
          <a:xfrm>
            <a:off x="8629650" y="0"/>
            <a:ext cx="19050" cy="6858000"/>
          </a:xfrm>
          <a:prstGeom prst="rect">
            <a:avLst/>
          </a:prstGeom>
          <a:solidFill>
            <a:srgbClr val="123A63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287" name="矩形"/>
          <p:cNvSpPr>
            <a:spLocks noGrp="1"/>
          </p:cNvSpPr>
          <p:nvPr/>
        </p:nvSpPr>
        <p:spPr>
          <a:xfrm>
            <a:off x="666750" y="1122362"/>
            <a:ext cx="7524750" cy="12701"/>
          </a:xfrm>
          <a:prstGeom prst="rect">
            <a:avLst/>
          </a:prstGeom>
          <a:solidFill>
            <a:srgbClr val="28435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288" name="矩形"/>
          <p:cNvSpPr>
            <a:spLocks noGrp="1"/>
          </p:cNvSpPr>
          <p:nvPr/>
        </p:nvSpPr>
        <p:spPr>
          <a:xfrm>
            <a:off x="666750" y="6342062"/>
            <a:ext cx="10858500" cy="12701"/>
          </a:xfrm>
          <a:prstGeom prst="rect">
            <a:avLst/>
          </a:prstGeom>
          <a:solidFill>
            <a:srgbClr val="173456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289" name="kicker-marker"/>
          <p:cNvSpPr>
            <a:spLocks noGrp="1"/>
          </p:cNvSpPr>
          <p:nvPr/>
        </p:nvSpPr>
        <p:spPr>
          <a:xfrm>
            <a:off x="666750" y="476250"/>
            <a:ext cx="76200" cy="76200"/>
          </a:xfrm>
          <a:prstGeom prst="rect">
            <a:avLst/>
          </a:prstGeom>
          <a:solidFill>
            <a:srgbClr val="2DD4B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290" name="矩形"/>
          <p:cNvSpPr>
            <a:spLocks noGrp="1"/>
          </p:cNvSpPr>
          <p:nvPr/>
        </p:nvSpPr>
        <p:spPr>
          <a:xfrm>
            <a:off x="838200" y="4191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291" name="FUNCTION DEMO"/>
          <p:cNvSpPr>
            <a:spLocks noGrp="1"/>
          </p:cNvSpPr>
          <p:nvPr/>
        </p:nvSpPr>
        <p:spPr>
          <a:xfrm>
            <a:off x="838200" y="454024"/>
            <a:ext cx="3429000" cy="139701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ctr">
            <a:spAutoFit/>
          </a:bodyPr>
          <a:lstStyle>
            <a:lvl1pPr>
              <a:buNone/>
              <a:defRPr sz="900" b="1">
                <a:solidFill>
                  <a:srgbClr val="2DD4BF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FUNCTION DEMO</a:t>
            </a:r>
          </a:p>
        </p:txBody>
      </p:sp>
      <p:sp>
        <p:nvSpPr>
          <p:cNvPr id="293" name="矩形"/>
          <p:cNvSpPr>
            <a:spLocks noGrp="1"/>
          </p:cNvSpPr>
          <p:nvPr/>
        </p:nvSpPr>
        <p:spPr>
          <a:xfrm>
            <a:off x="666750" y="723900"/>
            <a:ext cx="8001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7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294" name="功能展示：播放演示视频"/>
          <p:cNvSpPr>
            <a:spLocks noGrp="1"/>
          </p:cNvSpPr>
          <p:nvPr/>
        </p:nvSpPr>
        <p:spPr>
          <a:xfrm>
            <a:off x="666750" y="723900"/>
            <a:ext cx="8001000" cy="482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27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功能展示：播放演示视频</a:t>
            </a:r>
          </a:p>
        </p:txBody>
      </p:sp>
      <p:sp>
        <p:nvSpPr>
          <p:cNvPr id="296" name="矩形"/>
          <p:cNvSpPr>
            <a:spLocks noGrp="1"/>
          </p:cNvSpPr>
          <p:nvPr/>
        </p:nvSpPr>
        <p:spPr>
          <a:xfrm>
            <a:off x="685800" y="1352550"/>
            <a:ext cx="685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4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297" name="这一页作为视频入口，PPT 不展开按钮细节。"/>
          <p:cNvSpPr>
            <a:spLocks noGrp="1"/>
          </p:cNvSpPr>
          <p:nvPr/>
        </p:nvSpPr>
        <p:spPr>
          <a:xfrm>
            <a:off x="685800" y="1352550"/>
            <a:ext cx="6858000" cy="254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4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这一页作为视频入口，PPT 不展开按钮细节。</a:t>
            </a:r>
          </a:p>
        </p:txBody>
      </p:sp>
      <p:sp>
        <p:nvSpPr>
          <p:cNvPr id="299" name="矩形"/>
          <p:cNvSpPr>
            <a:spLocks noGrp="1"/>
          </p:cNvSpPr>
          <p:nvPr/>
        </p:nvSpPr>
        <p:spPr>
          <a:xfrm>
            <a:off x="838200" y="2133600"/>
            <a:ext cx="4781550" cy="2857500"/>
          </a:xfrm>
          <a:prstGeom prst="rect">
            <a:avLst/>
          </a:prstGeom>
          <a:solidFill>
            <a:srgbClr val="081629"/>
          </a:solidFill>
          <a:ln>
            <a:solidFill>
              <a:srgbClr val="1F4B76"/>
            </a:solidFill>
          </a:ln>
        </p:spPr>
        <p:txBody>
          <a:bodyPr lIns="0" tIns="0" rIns="0" bIns="0"/>
          <a:lstStyle/>
          <a:p/>
        </p:txBody>
      </p:sp>
      <p:sp>
        <p:nvSpPr>
          <p:cNvPr id="300" name="矩形"/>
          <p:cNvSpPr>
            <a:spLocks noGrp="1"/>
          </p:cNvSpPr>
          <p:nvPr/>
        </p:nvSpPr>
        <p:spPr>
          <a:xfrm>
            <a:off x="1257300" y="2724150"/>
            <a:ext cx="3943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1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301" name="展示视频播放"/>
          <p:cNvSpPr>
            <a:spLocks noGrp="1"/>
          </p:cNvSpPr>
          <p:nvPr/>
        </p:nvSpPr>
        <p:spPr>
          <a:xfrm>
            <a:off x="1257300" y="2724150"/>
            <a:ext cx="3943350" cy="558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 algn="ctr">
              <a:buNone/>
              <a:defRPr sz="31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展示视频播放</a:t>
            </a:r>
          </a:p>
        </p:txBody>
      </p:sp>
      <p:sp>
        <p:nvSpPr>
          <p:cNvPr id="303" name="矩形"/>
          <p:cNvSpPr>
            <a:spLocks noGrp="1"/>
          </p:cNvSpPr>
          <p:nvPr/>
        </p:nvSpPr>
        <p:spPr>
          <a:xfrm>
            <a:off x="1257300" y="3943350"/>
            <a:ext cx="39433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4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304" name="演示重点：录入任务 → 查看推荐 → 本周时间线 → 完成与积分反馈"/>
          <p:cNvSpPr>
            <a:spLocks noGrp="1"/>
          </p:cNvSpPr>
          <p:nvPr/>
        </p:nvSpPr>
        <p:spPr>
          <a:xfrm>
            <a:off x="1257300" y="3943350"/>
            <a:ext cx="3943350" cy="508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 algn="ctr">
              <a:buNone/>
              <a:defRPr sz="14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演示重点：录入任务 → 查看推荐 → 本周时间线 → 完成与积分反馈</a:t>
            </a:r>
          </a:p>
        </p:txBody>
      </p:sp>
      <p:sp>
        <p:nvSpPr>
          <p:cNvPr id="306" name="矩形"/>
          <p:cNvSpPr>
            <a:spLocks noGrp="1"/>
          </p:cNvSpPr>
          <p:nvPr/>
        </p:nvSpPr>
        <p:spPr>
          <a:xfrm>
            <a:off x="6210300" y="2057400"/>
            <a:ext cx="1638300" cy="1257300"/>
          </a:xfrm>
          <a:prstGeom prst="rect">
            <a:avLst/>
          </a:prstGeom>
          <a:solidFill>
            <a:srgbClr val="081629"/>
          </a:solidFill>
          <a:ln>
            <a:solidFill>
              <a:srgbClr val="1F4B76"/>
            </a:solidFill>
          </a:ln>
        </p:spPr>
        <p:txBody>
          <a:bodyPr lIns="0" tIns="0" rIns="0" bIns="0"/>
          <a:lstStyle/>
          <a:p/>
        </p:txBody>
      </p:sp>
      <p:pic>
        <p:nvPicPr>
          <p:cNvPr id="307" name="image3.png"/>
          <p:cNvPicPr>
            <a:picLocks noChangeAspect="1"/>
          </p:cNvPicPr>
          <p:nvPr/>
        </p:nvPicPr>
        <p:blipFill>
          <a:blip r:embed="rId1"/>
          <a:srcRect l="255" r="255"/>
          <a:stretch>
            <a:fillRect/>
          </a:stretch>
        </p:blipFill>
        <p:spPr>
          <a:xfrm>
            <a:off x="6286500" y="2133600"/>
            <a:ext cx="1485901" cy="933450"/>
          </a:xfrm>
          <a:prstGeom prst="rect">
            <a:avLst/>
          </a:prstGeom>
        </p:spPr>
      </p:pic>
      <p:sp>
        <p:nvSpPr>
          <p:cNvPr id="308" name="矩形"/>
          <p:cNvSpPr>
            <a:spLocks noGrp="1"/>
          </p:cNvSpPr>
          <p:nvPr/>
        </p:nvSpPr>
        <p:spPr>
          <a:xfrm>
            <a:off x="6286500" y="314325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8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309" name="控制中枢"/>
          <p:cNvSpPr>
            <a:spLocks noGrp="1"/>
          </p:cNvSpPr>
          <p:nvPr/>
        </p:nvSpPr>
        <p:spPr>
          <a:xfrm>
            <a:off x="6286500" y="3143250"/>
            <a:ext cx="1485900" cy="139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 algn="ctr">
              <a:buNone/>
              <a:defRPr sz="8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控制中枢</a:t>
            </a:r>
          </a:p>
        </p:txBody>
      </p:sp>
      <p:sp>
        <p:nvSpPr>
          <p:cNvPr id="311" name="矩形"/>
          <p:cNvSpPr>
            <a:spLocks noGrp="1"/>
          </p:cNvSpPr>
          <p:nvPr/>
        </p:nvSpPr>
        <p:spPr>
          <a:xfrm>
            <a:off x="8134350" y="2057400"/>
            <a:ext cx="1638300" cy="1257300"/>
          </a:xfrm>
          <a:prstGeom prst="rect">
            <a:avLst/>
          </a:prstGeom>
          <a:solidFill>
            <a:srgbClr val="081629"/>
          </a:solidFill>
          <a:ln>
            <a:solidFill>
              <a:srgbClr val="1F4B76"/>
            </a:solidFill>
          </a:ln>
        </p:spPr>
        <p:txBody>
          <a:bodyPr lIns="0" tIns="0" rIns="0" bIns="0"/>
          <a:lstStyle/>
          <a:p/>
        </p:txBody>
      </p:sp>
      <p:pic>
        <p:nvPicPr>
          <p:cNvPr id="312" name="image2.png"/>
          <p:cNvPicPr>
            <a:picLocks noChangeAspect="1"/>
          </p:cNvPicPr>
          <p:nvPr/>
        </p:nvPicPr>
        <p:blipFill>
          <a:blip r:embed="rId2"/>
          <a:srcRect l="255" r="255"/>
          <a:stretch>
            <a:fillRect/>
          </a:stretch>
        </p:blipFill>
        <p:spPr>
          <a:xfrm>
            <a:off x="8210550" y="2133600"/>
            <a:ext cx="1485901" cy="933450"/>
          </a:xfrm>
          <a:prstGeom prst="rect">
            <a:avLst/>
          </a:prstGeom>
        </p:spPr>
      </p:pic>
      <p:sp>
        <p:nvSpPr>
          <p:cNvPr id="313" name="矩形"/>
          <p:cNvSpPr>
            <a:spLocks noGrp="1"/>
          </p:cNvSpPr>
          <p:nvPr/>
        </p:nvSpPr>
        <p:spPr>
          <a:xfrm>
            <a:off x="8210550" y="314325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8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314" name="今日驾驶舱"/>
          <p:cNvSpPr>
            <a:spLocks noGrp="1"/>
          </p:cNvSpPr>
          <p:nvPr/>
        </p:nvSpPr>
        <p:spPr>
          <a:xfrm>
            <a:off x="8210550" y="3143250"/>
            <a:ext cx="1485900" cy="139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 algn="ctr">
              <a:buNone/>
              <a:defRPr sz="8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今日驾驶舱</a:t>
            </a:r>
          </a:p>
        </p:txBody>
      </p:sp>
      <p:sp>
        <p:nvSpPr>
          <p:cNvPr id="316" name="矩形"/>
          <p:cNvSpPr>
            <a:spLocks noGrp="1"/>
          </p:cNvSpPr>
          <p:nvPr/>
        </p:nvSpPr>
        <p:spPr>
          <a:xfrm>
            <a:off x="6210300" y="3676650"/>
            <a:ext cx="1638300" cy="1257300"/>
          </a:xfrm>
          <a:prstGeom prst="rect">
            <a:avLst/>
          </a:prstGeom>
          <a:solidFill>
            <a:srgbClr val="081629"/>
          </a:solidFill>
          <a:ln>
            <a:solidFill>
              <a:srgbClr val="1F4B76"/>
            </a:solidFill>
          </a:ln>
        </p:spPr>
        <p:txBody>
          <a:bodyPr lIns="0" tIns="0" rIns="0" bIns="0"/>
          <a:lstStyle/>
          <a:p/>
        </p:txBody>
      </p:sp>
      <p:pic>
        <p:nvPicPr>
          <p:cNvPr id="317" name="image5.png"/>
          <p:cNvPicPr>
            <a:picLocks noChangeAspect="1"/>
          </p:cNvPicPr>
          <p:nvPr/>
        </p:nvPicPr>
        <p:blipFill>
          <a:blip r:embed="rId3"/>
          <a:srcRect l="255" r="255"/>
          <a:stretch>
            <a:fillRect/>
          </a:stretch>
        </p:blipFill>
        <p:spPr>
          <a:xfrm>
            <a:off x="6286500" y="3752850"/>
            <a:ext cx="1485901" cy="933450"/>
          </a:xfrm>
          <a:prstGeom prst="rect">
            <a:avLst/>
          </a:prstGeom>
        </p:spPr>
      </p:pic>
      <p:sp>
        <p:nvSpPr>
          <p:cNvPr id="318" name="矩形"/>
          <p:cNvSpPr>
            <a:spLocks noGrp="1"/>
          </p:cNvSpPr>
          <p:nvPr/>
        </p:nvSpPr>
        <p:spPr>
          <a:xfrm>
            <a:off x="6286500" y="47625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8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319" name="本周任务地图"/>
          <p:cNvSpPr>
            <a:spLocks noGrp="1"/>
          </p:cNvSpPr>
          <p:nvPr/>
        </p:nvSpPr>
        <p:spPr>
          <a:xfrm>
            <a:off x="6286500" y="4762500"/>
            <a:ext cx="1485900" cy="139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 algn="ctr">
              <a:buNone/>
              <a:defRPr sz="8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本周任务地图</a:t>
            </a:r>
          </a:p>
        </p:txBody>
      </p:sp>
      <p:sp>
        <p:nvSpPr>
          <p:cNvPr id="321" name="矩形"/>
          <p:cNvSpPr>
            <a:spLocks noGrp="1"/>
          </p:cNvSpPr>
          <p:nvPr/>
        </p:nvSpPr>
        <p:spPr>
          <a:xfrm>
            <a:off x="8134350" y="3676650"/>
            <a:ext cx="1638300" cy="1257300"/>
          </a:xfrm>
          <a:prstGeom prst="rect">
            <a:avLst/>
          </a:prstGeom>
          <a:solidFill>
            <a:srgbClr val="081629"/>
          </a:solidFill>
          <a:ln>
            <a:solidFill>
              <a:srgbClr val="1F4B76"/>
            </a:solidFill>
          </a:ln>
        </p:spPr>
        <p:txBody>
          <a:bodyPr lIns="0" tIns="0" rIns="0" bIns="0"/>
          <a:lstStyle/>
          <a:p/>
        </p:txBody>
      </p:sp>
      <p:pic>
        <p:nvPicPr>
          <p:cNvPr id="322" name="image6.png"/>
          <p:cNvPicPr>
            <a:picLocks noChangeAspect="1"/>
          </p:cNvPicPr>
          <p:nvPr/>
        </p:nvPicPr>
        <p:blipFill>
          <a:blip r:embed="rId4"/>
          <a:srcRect l="255" r="255"/>
          <a:stretch>
            <a:fillRect/>
          </a:stretch>
        </p:blipFill>
        <p:spPr>
          <a:xfrm>
            <a:off x="8210550" y="3752850"/>
            <a:ext cx="1485901" cy="933450"/>
          </a:xfrm>
          <a:prstGeom prst="rect">
            <a:avLst/>
          </a:prstGeom>
        </p:spPr>
      </p:pic>
      <p:sp>
        <p:nvSpPr>
          <p:cNvPr id="323" name="矩形"/>
          <p:cNvSpPr>
            <a:spLocks noGrp="1"/>
          </p:cNvSpPr>
          <p:nvPr/>
        </p:nvSpPr>
        <p:spPr>
          <a:xfrm>
            <a:off x="8210550" y="4762500"/>
            <a:ext cx="1485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8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324" name="后勤补给"/>
          <p:cNvSpPr>
            <a:spLocks noGrp="1"/>
          </p:cNvSpPr>
          <p:nvPr/>
        </p:nvSpPr>
        <p:spPr>
          <a:xfrm>
            <a:off x="8210550" y="4762500"/>
            <a:ext cx="1485900" cy="139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 algn="ctr">
              <a:buNone/>
              <a:defRPr sz="8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后勤补给</a:t>
            </a:r>
          </a:p>
        </p:txBody>
      </p:sp>
      <p:sp>
        <p:nvSpPr>
          <p:cNvPr id="326" name="正方形"/>
          <p:cNvSpPr>
            <a:spLocks noGrp="1"/>
          </p:cNvSpPr>
          <p:nvPr/>
        </p:nvSpPr>
        <p:spPr>
          <a:xfrm>
            <a:off x="5943600" y="24574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200">
                <a:solidFill>
                  <a:srgbClr val="2DD4B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327" name="1"/>
          <p:cNvSpPr>
            <a:spLocks noGrp="1"/>
          </p:cNvSpPr>
          <p:nvPr/>
        </p:nvSpPr>
        <p:spPr>
          <a:xfrm>
            <a:off x="5943600" y="2457450"/>
            <a:ext cx="228600" cy="2159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 algn="ctr">
              <a:buNone/>
              <a:defRPr sz="1200">
                <a:solidFill>
                  <a:srgbClr val="2DD4B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1</a:t>
            </a:r>
          </a:p>
        </p:txBody>
      </p:sp>
      <p:sp>
        <p:nvSpPr>
          <p:cNvPr id="329" name="正方形"/>
          <p:cNvSpPr>
            <a:spLocks noGrp="1"/>
          </p:cNvSpPr>
          <p:nvPr/>
        </p:nvSpPr>
        <p:spPr>
          <a:xfrm>
            <a:off x="7867650" y="24574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200">
                <a:solidFill>
                  <a:srgbClr val="2DD4B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330" name="2"/>
          <p:cNvSpPr>
            <a:spLocks noGrp="1"/>
          </p:cNvSpPr>
          <p:nvPr/>
        </p:nvSpPr>
        <p:spPr>
          <a:xfrm>
            <a:off x="7867650" y="2457450"/>
            <a:ext cx="228600" cy="2159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 algn="ctr">
              <a:buNone/>
              <a:defRPr sz="1200">
                <a:solidFill>
                  <a:srgbClr val="2DD4B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2</a:t>
            </a:r>
          </a:p>
        </p:txBody>
      </p:sp>
      <p:sp>
        <p:nvSpPr>
          <p:cNvPr id="332" name="正方形"/>
          <p:cNvSpPr>
            <a:spLocks noGrp="1"/>
          </p:cNvSpPr>
          <p:nvPr/>
        </p:nvSpPr>
        <p:spPr>
          <a:xfrm>
            <a:off x="5943600" y="407670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200">
                <a:solidFill>
                  <a:srgbClr val="2DD4B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333" name="3"/>
          <p:cNvSpPr>
            <a:spLocks noGrp="1"/>
          </p:cNvSpPr>
          <p:nvPr/>
        </p:nvSpPr>
        <p:spPr>
          <a:xfrm>
            <a:off x="5943600" y="4076700"/>
            <a:ext cx="228600" cy="2159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 algn="ctr">
              <a:buNone/>
              <a:defRPr sz="1200">
                <a:solidFill>
                  <a:srgbClr val="2DD4B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3</a:t>
            </a:r>
          </a:p>
        </p:txBody>
      </p:sp>
      <p:sp>
        <p:nvSpPr>
          <p:cNvPr id="335" name="正方形"/>
          <p:cNvSpPr>
            <a:spLocks noGrp="1"/>
          </p:cNvSpPr>
          <p:nvPr/>
        </p:nvSpPr>
        <p:spPr>
          <a:xfrm>
            <a:off x="7867650" y="407670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200">
                <a:solidFill>
                  <a:srgbClr val="2DD4B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336" name="4"/>
          <p:cNvSpPr>
            <a:spLocks noGrp="1"/>
          </p:cNvSpPr>
          <p:nvPr/>
        </p:nvSpPr>
        <p:spPr>
          <a:xfrm>
            <a:off x="7867650" y="4076700"/>
            <a:ext cx="228600" cy="2159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 algn="ctr">
              <a:buNone/>
              <a:defRPr sz="1200">
                <a:solidFill>
                  <a:srgbClr val="2DD4B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4</a:t>
            </a:r>
          </a:p>
        </p:txBody>
      </p:sp>
      <p:sp>
        <p:nvSpPr>
          <p:cNvPr id="338" name="矩形"/>
          <p:cNvSpPr>
            <a:spLocks noGrp="1"/>
          </p:cNvSpPr>
          <p:nvPr/>
        </p:nvSpPr>
        <p:spPr>
          <a:xfrm>
            <a:off x="666750" y="6448425"/>
            <a:ext cx="7620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700">
                <a:solidFill>
                  <a:srgbClr val="7F8EA8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339" name="Source: local screenshots from /manage, /today, /timeline, /rewards"/>
          <p:cNvSpPr>
            <a:spLocks noGrp="1"/>
          </p:cNvSpPr>
          <p:nvPr/>
        </p:nvSpPr>
        <p:spPr>
          <a:xfrm>
            <a:off x="666750" y="6448425"/>
            <a:ext cx="7620000" cy="127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700">
                <a:solidFill>
                  <a:srgbClr val="7F8EA8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Source: local screenshots from /manage, /today, /timeline, /rewards</a:t>
            </a:r>
          </a:p>
        </p:txBody>
      </p:sp>
      <p:sp>
        <p:nvSpPr>
          <p:cNvPr id="341" name="矩形"/>
          <p:cNvSpPr>
            <a:spLocks noGrp="1"/>
          </p:cNvSpPr>
          <p:nvPr/>
        </p:nvSpPr>
        <p:spPr>
          <a:xfrm>
            <a:off x="11106150" y="6429375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900" b="1">
                <a:solidFill>
                  <a:srgbClr val="7F8EA8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342" name="04"/>
          <p:cNvSpPr>
            <a:spLocks noGrp="1"/>
          </p:cNvSpPr>
          <p:nvPr/>
        </p:nvSpPr>
        <p:spPr>
          <a:xfrm>
            <a:off x="11106150" y="6429375"/>
            <a:ext cx="419100" cy="139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 algn="r">
              <a:buNone/>
              <a:defRPr sz="900" b="1">
                <a:solidFill>
                  <a:srgbClr val="7F8EA8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7" name="矩形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426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348" name="矩形"/>
          <p:cNvSpPr>
            <a:spLocks noGrp="1"/>
          </p:cNvSpPr>
          <p:nvPr/>
        </p:nvSpPr>
        <p:spPr>
          <a:xfrm>
            <a:off x="8591550" y="0"/>
            <a:ext cx="3600450" cy="6858000"/>
          </a:xfrm>
          <a:prstGeom prst="rect">
            <a:avLst/>
          </a:prstGeom>
          <a:solidFill>
            <a:srgbClr val="091B35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349" name="矩形"/>
          <p:cNvSpPr>
            <a:spLocks noGrp="1"/>
          </p:cNvSpPr>
          <p:nvPr/>
        </p:nvSpPr>
        <p:spPr>
          <a:xfrm>
            <a:off x="8629650" y="0"/>
            <a:ext cx="19050" cy="6858000"/>
          </a:xfrm>
          <a:prstGeom prst="rect">
            <a:avLst/>
          </a:prstGeom>
          <a:solidFill>
            <a:srgbClr val="123A63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350" name="矩形"/>
          <p:cNvSpPr>
            <a:spLocks noGrp="1"/>
          </p:cNvSpPr>
          <p:nvPr/>
        </p:nvSpPr>
        <p:spPr>
          <a:xfrm>
            <a:off x="666750" y="1122362"/>
            <a:ext cx="7524750" cy="12701"/>
          </a:xfrm>
          <a:prstGeom prst="rect">
            <a:avLst/>
          </a:prstGeom>
          <a:solidFill>
            <a:srgbClr val="28435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351" name="矩形"/>
          <p:cNvSpPr>
            <a:spLocks noGrp="1"/>
          </p:cNvSpPr>
          <p:nvPr/>
        </p:nvSpPr>
        <p:spPr>
          <a:xfrm>
            <a:off x="666750" y="6342062"/>
            <a:ext cx="10858500" cy="12701"/>
          </a:xfrm>
          <a:prstGeom prst="rect">
            <a:avLst/>
          </a:prstGeom>
          <a:solidFill>
            <a:srgbClr val="173456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352" name="kicker-marker"/>
          <p:cNvSpPr>
            <a:spLocks noGrp="1"/>
          </p:cNvSpPr>
          <p:nvPr/>
        </p:nvSpPr>
        <p:spPr>
          <a:xfrm>
            <a:off x="666750" y="476250"/>
            <a:ext cx="76200" cy="76200"/>
          </a:xfrm>
          <a:prstGeom prst="rect">
            <a:avLst/>
          </a:prstGeom>
          <a:solidFill>
            <a:srgbClr val="F59E0B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353" name="矩形"/>
          <p:cNvSpPr>
            <a:spLocks noGrp="1"/>
          </p:cNvSpPr>
          <p:nvPr/>
        </p:nvSpPr>
        <p:spPr>
          <a:xfrm>
            <a:off x="838200" y="4191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354" name="IMPLEMENTATION"/>
          <p:cNvSpPr>
            <a:spLocks noGrp="1"/>
          </p:cNvSpPr>
          <p:nvPr/>
        </p:nvSpPr>
        <p:spPr>
          <a:xfrm>
            <a:off x="838200" y="454024"/>
            <a:ext cx="3429000" cy="139701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ctr">
            <a:spAutoFit/>
          </a:bodyPr>
          <a:lstStyle>
            <a:lvl1pPr>
              <a:buNone/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IMPLEMENTATION</a:t>
            </a:r>
          </a:p>
        </p:txBody>
      </p:sp>
      <p:sp>
        <p:nvSpPr>
          <p:cNvPr id="356" name="矩形"/>
          <p:cNvSpPr>
            <a:spLocks noGrp="1"/>
          </p:cNvSpPr>
          <p:nvPr/>
        </p:nvSpPr>
        <p:spPr>
          <a:xfrm>
            <a:off x="666750" y="723900"/>
            <a:ext cx="8001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7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357" name="具体实现：预测、解释与反馈的数据链"/>
          <p:cNvSpPr>
            <a:spLocks noGrp="1"/>
          </p:cNvSpPr>
          <p:nvPr/>
        </p:nvSpPr>
        <p:spPr>
          <a:xfrm>
            <a:off x="666750" y="723900"/>
            <a:ext cx="8001000" cy="482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27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具体实现：预测、解释与反馈的数据链</a:t>
            </a:r>
          </a:p>
        </p:txBody>
      </p:sp>
      <p:sp>
        <p:nvSpPr>
          <p:cNvPr id="359" name="矩形"/>
          <p:cNvSpPr>
            <a:spLocks noGrp="1"/>
          </p:cNvSpPr>
          <p:nvPr/>
        </p:nvSpPr>
        <p:spPr>
          <a:xfrm>
            <a:off x="685800" y="1352550"/>
            <a:ext cx="685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4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360" name="AI 模块不是单独展示结果，而是进入新增、刷新、推荐和完成任务的实际流程。"/>
          <p:cNvSpPr>
            <a:spLocks noGrp="1"/>
          </p:cNvSpPr>
          <p:nvPr/>
        </p:nvSpPr>
        <p:spPr>
          <a:xfrm>
            <a:off x="685800" y="1352550"/>
            <a:ext cx="6858000" cy="254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4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AI 模块不是单独展示结果，而是进入新增、刷新、推荐和完成任务的实际流程。</a:t>
            </a:r>
          </a:p>
        </p:txBody>
      </p:sp>
      <p:sp>
        <p:nvSpPr>
          <p:cNvPr id="362" name="矩形"/>
          <p:cNvSpPr>
            <a:spLocks noGrp="1"/>
          </p:cNvSpPr>
          <p:nvPr/>
        </p:nvSpPr>
        <p:spPr>
          <a:xfrm>
            <a:off x="800100" y="2266950"/>
            <a:ext cx="1676400" cy="1104900"/>
          </a:xfrm>
          <a:prstGeom prst="rect">
            <a:avLst/>
          </a:prstGeom>
          <a:solidFill>
            <a:srgbClr val="0B1E36"/>
          </a:solidFill>
          <a:ln>
            <a:solidFill>
              <a:srgbClr val="254D70"/>
            </a:solidFill>
          </a:ln>
        </p:spPr>
        <p:txBody>
          <a:bodyPr lIns="0" tIns="0" rIns="0" bIns="0"/>
          <a:lstStyle/>
          <a:p/>
        </p:txBody>
      </p:sp>
      <p:sp>
        <p:nvSpPr>
          <p:cNvPr id="363" name="矩形"/>
          <p:cNvSpPr>
            <a:spLocks noGrp="1"/>
          </p:cNvSpPr>
          <p:nvPr/>
        </p:nvSpPr>
        <p:spPr>
          <a:xfrm>
            <a:off x="971550" y="24384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00">
                <a:solidFill>
                  <a:srgbClr val="A8B3C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364" name="01"/>
          <p:cNvSpPr>
            <a:spLocks noGrp="1"/>
          </p:cNvSpPr>
          <p:nvPr/>
        </p:nvSpPr>
        <p:spPr>
          <a:xfrm>
            <a:off x="971550" y="2438400"/>
            <a:ext cx="40005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300">
                <a:solidFill>
                  <a:srgbClr val="A8B3C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01</a:t>
            </a:r>
          </a:p>
        </p:txBody>
      </p:sp>
      <p:sp>
        <p:nvSpPr>
          <p:cNvPr id="366" name="矩形"/>
          <p:cNvSpPr>
            <a:spLocks noGrp="1"/>
          </p:cNvSpPr>
          <p:nvPr/>
        </p:nvSpPr>
        <p:spPr>
          <a:xfrm>
            <a:off x="971550" y="272415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4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367" name="任务表单"/>
          <p:cNvSpPr>
            <a:spLocks noGrp="1"/>
          </p:cNvSpPr>
          <p:nvPr/>
        </p:nvSpPr>
        <p:spPr>
          <a:xfrm>
            <a:off x="971550" y="2724150"/>
            <a:ext cx="1333500" cy="254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4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任务表单</a:t>
            </a:r>
          </a:p>
        </p:txBody>
      </p:sp>
      <p:sp>
        <p:nvSpPr>
          <p:cNvPr id="369" name="矩形"/>
          <p:cNvSpPr>
            <a:spLocks noGrp="1"/>
          </p:cNvSpPr>
          <p:nvPr/>
        </p:nvSpPr>
        <p:spPr>
          <a:xfrm>
            <a:off x="971550" y="2990850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370" name="DDL / 耗时 / 难度 / 重要度 / 类型"/>
          <p:cNvSpPr>
            <a:spLocks noGrp="1"/>
          </p:cNvSpPr>
          <p:nvPr/>
        </p:nvSpPr>
        <p:spPr>
          <a:xfrm>
            <a:off x="971550" y="2990850"/>
            <a:ext cx="1333500" cy="330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DDL / 耗时 / 难度 / 重要度 / 类型</a:t>
            </a:r>
          </a:p>
        </p:txBody>
      </p:sp>
      <p:sp>
        <p:nvSpPr>
          <p:cNvPr id="372" name="矩形"/>
          <p:cNvSpPr>
            <a:spLocks noGrp="1"/>
          </p:cNvSpPr>
          <p:nvPr/>
        </p:nvSpPr>
        <p:spPr>
          <a:xfrm>
            <a:off x="2495550" y="2667000"/>
            <a:ext cx="38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>
                <a:solidFill>
                  <a:srgbClr val="2DD4BF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373" name="→"/>
          <p:cNvSpPr>
            <a:spLocks noGrp="1"/>
          </p:cNvSpPr>
          <p:nvPr/>
        </p:nvSpPr>
        <p:spPr>
          <a:xfrm>
            <a:off x="2495550" y="2667000"/>
            <a:ext cx="381000" cy="3175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 algn="ctr">
              <a:buNone/>
              <a:defRPr>
                <a:solidFill>
                  <a:srgbClr val="2DD4BF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→</a:t>
            </a:r>
          </a:p>
        </p:txBody>
      </p:sp>
      <p:sp>
        <p:nvSpPr>
          <p:cNvPr id="375" name="矩形"/>
          <p:cNvSpPr>
            <a:spLocks noGrp="1"/>
          </p:cNvSpPr>
          <p:nvPr/>
        </p:nvSpPr>
        <p:spPr>
          <a:xfrm>
            <a:off x="2876550" y="2266950"/>
            <a:ext cx="1676400" cy="1104900"/>
          </a:xfrm>
          <a:prstGeom prst="rect">
            <a:avLst/>
          </a:prstGeom>
          <a:solidFill>
            <a:srgbClr val="10284A"/>
          </a:solidFill>
          <a:ln>
            <a:solidFill>
              <a:srgbClr val="2DD4BF"/>
            </a:solidFill>
          </a:ln>
        </p:spPr>
        <p:txBody>
          <a:bodyPr lIns="0" tIns="0" rIns="0" bIns="0"/>
          <a:lstStyle/>
          <a:p/>
        </p:txBody>
      </p:sp>
      <p:sp>
        <p:nvSpPr>
          <p:cNvPr id="376" name="矩形"/>
          <p:cNvSpPr>
            <a:spLocks noGrp="1"/>
          </p:cNvSpPr>
          <p:nvPr/>
        </p:nvSpPr>
        <p:spPr>
          <a:xfrm>
            <a:off x="3048000" y="24384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00">
                <a:solidFill>
                  <a:srgbClr val="2DD4B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377" name="02"/>
          <p:cNvSpPr>
            <a:spLocks noGrp="1"/>
          </p:cNvSpPr>
          <p:nvPr/>
        </p:nvSpPr>
        <p:spPr>
          <a:xfrm>
            <a:off x="3048000" y="2438400"/>
            <a:ext cx="40005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300">
                <a:solidFill>
                  <a:srgbClr val="2DD4B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02</a:t>
            </a:r>
          </a:p>
        </p:txBody>
      </p:sp>
      <p:sp>
        <p:nvSpPr>
          <p:cNvPr id="379" name="矩形"/>
          <p:cNvSpPr>
            <a:spLocks noGrp="1"/>
          </p:cNvSpPr>
          <p:nvPr/>
        </p:nvSpPr>
        <p:spPr>
          <a:xfrm>
            <a:off x="3048000" y="272415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4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380" name="预测函数"/>
          <p:cNvSpPr>
            <a:spLocks noGrp="1"/>
          </p:cNvSpPr>
          <p:nvPr/>
        </p:nvSpPr>
        <p:spPr>
          <a:xfrm>
            <a:off x="3048000" y="2724150"/>
            <a:ext cx="1333500" cy="254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4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预测函数</a:t>
            </a:r>
          </a:p>
        </p:txBody>
      </p:sp>
      <p:sp>
        <p:nvSpPr>
          <p:cNvPr id="382" name="矩形"/>
          <p:cNvSpPr>
            <a:spLocks noGrp="1"/>
          </p:cNvSpPr>
          <p:nvPr/>
        </p:nvSpPr>
        <p:spPr>
          <a:xfrm>
            <a:off x="3048000" y="2990850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383" name="predict_priority"/>
          <p:cNvSpPr>
            <a:spLocks noGrp="1"/>
          </p:cNvSpPr>
          <p:nvPr/>
        </p:nvSpPr>
        <p:spPr>
          <a:xfrm>
            <a:off x="3048000" y="2990850"/>
            <a:ext cx="1333500" cy="165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predict_priority</a:t>
            </a:r>
          </a:p>
        </p:txBody>
      </p:sp>
      <p:sp>
        <p:nvSpPr>
          <p:cNvPr id="385" name="矩形"/>
          <p:cNvSpPr>
            <a:spLocks noGrp="1"/>
          </p:cNvSpPr>
          <p:nvPr/>
        </p:nvSpPr>
        <p:spPr>
          <a:xfrm>
            <a:off x="4572000" y="2667000"/>
            <a:ext cx="38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>
                <a:solidFill>
                  <a:srgbClr val="2DD4BF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386" name="→"/>
          <p:cNvSpPr>
            <a:spLocks noGrp="1"/>
          </p:cNvSpPr>
          <p:nvPr/>
        </p:nvSpPr>
        <p:spPr>
          <a:xfrm>
            <a:off x="4572000" y="2667000"/>
            <a:ext cx="381000" cy="3175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 algn="ctr">
              <a:buNone/>
              <a:defRPr>
                <a:solidFill>
                  <a:srgbClr val="2DD4BF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→</a:t>
            </a:r>
          </a:p>
        </p:txBody>
      </p:sp>
      <p:sp>
        <p:nvSpPr>
          <p:cNvPr id="388" name="矩形"/>
          <p:cNvSpPr>
            <a:spLocks noGrp="1"/>
          </p:cNvSpPr>
          <p:nvPr/>
        </p:nvSpPr>
        <p:spPr>
          <a:xfrm>
            <a:off x="4953000" y="2266950"/>
            <a:ext cx="1676400" cy="1104900"/>
          </a:xfrm>
          <a:prstGeom prst="rect">
            <a:avLst/>
          </a:prstGeom>
          <a:solidFill>
            <a:srgbClr val="10284A"/>
          </a:solidFill>
          <a:ln>
            <a:solidFill>
              <a:srgbClr val="2DD4BF"/>
            </a:solidFill>
          </a:ln>
        </p:spPr>
        <p:txBody>
          <a:bodyPr lIns="0" tIns="0" rIns="0" bIns="0"/>
          <a:lstStyle/>
          <a:p/>
        </p:txBody>
      </p:sp>
      <p:sp>
        <p:nvSpPr>
          <p:cNvPr id="389" name="矩形"/>
          <p:cNvSpPr>
            <a:spLocks noGrp="1"/>
          </p:cNvSpPr>
          <p:nvPr/>
        </p:nvSpPr>
        <p:spPr>
          <a:xfrm>
            <a:off x="5124450" y="24384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00">
                <a:solidFill>
                  <a:srgbClr val="2DD4B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390" name="03"/>
          <p:cNvSpPr>
            <a:spLocks noGrp="1"/>
          </p:cNvSpPr>
          <p:nvPr/>
        </p:nvSpPr>
        <p:spPr>
          <a:xfrm>
            <a:off x="5124450" y="2438400"/>
            <a:ext cx="40005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300">
                <a:solidFill>
                  <a:srgbClr val="2DD4B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03</a:t>
            </a:r>
          </a:p>
        </p:txBody>
      </p:sp>
      <p:sp>
        <p:nvSpPr>
          <p:cNvPr id="392" name="矩形"/>
          <p:cNvSpPr>
            <a:spLocks noGrp="1"/>
          </p:cNvSpPr>
          <p:nvPr/>
        </p:nvSpPr>
        <p:spPr>
          <a:xfrm>
            <a:off x="5124450" y="272415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4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393" name="解释规则"/>
          <p:cNvSpPr>
            <a:spLocks noGrp="1"/>
          </p:cNvSpPr>
          <p:nvPr/>
        </p:nvSpPr>
        <p:spPr>
          <a:xfrm>
            <a:off x="5124450" y="2724150"/>
            <a:ext cx="1333500" cy="254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4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解释规则</a:t>
            </a:r>
          </a:p>
        </p:txBody>
      </p:sp>
      <p:sp>
        <p:nvSpPr>
          <p:cNvPr id="395" name="矩形"/>
          <p:cNvSpPr>
            <a:spLocks noGrp="1"/>
          </p:cNvSpPr>
          <p:nvPr/>
        </p:nvSpPr>
        <p:spPr>
          <a:xfrm>
            <a:off x="5124450" y="2990850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396" name="压力评分 + 原因文本"/>
          <p:cNvSpPr>
            <a:spLocks noGrp="1"/>
          </p:cNvSpPr>
          <p:nvPr/>
        </p:nvSpPr>
        <p:spPr>
          <a:xfrm>
            <a:off x="5124450" y="2990850"/>
            <a:ext cx="1333500" cy="165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压力评分 + 原因文本</a:t>
            </a:r>
          </a:p>
        </p:txBody>
      </p:sp>
      <p:sp>
        <p:nvSpPr>
          <p:cNvPr id="398" name="矩形"/>
          <p:cNvSpPr>
            <a:spLocks noGrp="1"/>
          </p:cNvSpPr>
          <p:nvPr/>
        </p:nvSpPr>
        <p:spPr>
          <a:xfrm>
            <a:off x="6648450" y="2667000"/>
            <a:ext cx="38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>
                <a:solidFill>
                  <a:srgbClr val="2DD4BF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399" name="→"/>
          <p:cNvSpPr>
            <a:spLocks noGrp="1"/>
          </p:cNvSpPr>
          <p:nvPr/>
        </p:nvSpPr>
        <p:spPr>
          <a:xfrm>
            <a:off x="6648450" y="2667000"/>
            <a:ext cx="381000" cy="3175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 algn="ctr">
              <a:buNone/>
              <a:defRPr>
                <a:solidFill>
                  <a:srgbClr val="2DD4BF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→</a:t>
            </a:r>
          </a:p>
        </p:txBody>
      </p:sp>
      <p:sp>
        <p:nvSpPr>
          <p:cNvPr id="401" name="矩形"/>
          <p:cNvSpPr>
            <a:spLocks noGrp="1"/>
          </p:cNvSpPr>
          <p:nvPr/>
        </p:nvSpPr>
        <p:spPr>
          <a:xfrm>
            <a:off x="7029450" y="2266950"/>
            <a:ext cx="1676400" cy="1104900"/>
          </a:xfrm>
          <a:prstGeom prst="rect">
            <a:avLst/>
          </a:prstGeom>
          <a:solidFill>
            <a:srgbClr val="0B1E36"/>
          </a:solidFill>
          <a:ln>
            <a:solidFill>
              <a:srgbClr val="254D70"/>
            </a:solidFill>
          </a:ln>
        </p:spPr>
        <p:txBody>
          <a:bodyPr lIns="0" tIns="0" rIns="0" bIns="0"/>
          <a:lstStyle/>
          <a:p/>
        </p:txBody>
      </p:sp>
      <p:sp>
        <p:nvSpPr>
          <p:cNvPr id="402" name="矩形"/>
          <p:cNvSpPr>
            <a:spLocks noGrp="1"/>
          </p:cNvSpPr>
          <p:nvPr/>
        </p:nvSpPr>
        <p:spPr>
          <a:xfrm>
            <a:off x="7200900" y="24384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00">
                <a:solidFill>
                  <a:srgbClr val="A8B3C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403" name="04"/>
          <p:cNvSpPr>
            <a:spLocks noGrp="1"/>
          </p:cNvSpPr>
          <p:nvPr/>
        </p:nvSpPr>
        <p:spPr>
          <a:xfrm>
            <a:off x="7200900" y="2438400"/>
            <a:ext cx="40005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300">
                <a:solidFill>
                  <a:srgbClr val="A8B3C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04</a:t>
            </a:r>
          </a:p>
        </p:txBody>
      </p:sp>
      <p:sp>
        <p:nvSpPr>
          <p:cNvPr id="405" name="矩形"/>
          <p:cNvSpPr>
            <a:spLocks noGrp="1"/>
          </p:cNvSpPr>
          <p:nvPr/>
        </p:nvSpPr>
        <p:spPr>
          <a:xfrm>
            <a:off x="7200900" y="272415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4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406" name="页面推荐"/>
          <p:cNvSpPr>
            <a:spLocks noGrp="1"/>
          </p:cNvSpPr>
          <p:nvPr/>
        </p:nvSpPr>
        <p:spPr>
          <a:xfrm>
            <a:off x="7200900" y="2724150"/>
            <a:ext cx="1333500" cy="254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4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页面推荐</a:t>
            </a:r>
          </a:p>
        </p:txBody>
      </p:sp>
      <p:sp>
        <p:nvSpPr>
          <p:cNvPr id="408" name="矩形"/>
          <p:cNvSpPr>
            <a:spLocks noGrp="1"/>
          </p:cNvSpPr>
          <p:nvPr/>
        </p:nvSpPr>
        <p:spPr>
          <a:xfrm>
            <a:off x="7200900" y="2990850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409" name="今日关注 + 时间线窗口"/>
          <p:cNvSpPr>
            <a:spLocks noGrp="1"/>
          </p:cNvSpPr>
          <p:nvPr/>
        </p:nvSpPr>
        <p:spPr>
          <a:xfrm>
            <a:off x="7200900" y="2990850"/>
            <a:ext cx="1333500" cy="165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今日关注 + 时间线窗口</a:t>
            </a:r>
          </a:p>
        </p:txBody>
      </p:sp>
      <p:sp>
        <p:nvSpPr>
          <p:cNvPr id="411" name="矩形"/>
          <p:cNvSpPr>
            <a:spLocks noGrp="1"/>
          </p:cNvSpPr>
          <p:nvPr/>
        </p:nvSpPr>
        <p:spPr>
          <a:xfrm>
            <a:off x="8724900" y="2667000"/>
            <a:ext cx="381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>
                <a:solidFill>
                  <a:srgbClr val="2DD4BF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412" name="→"/>
          <p:cNvSpPr>
            <a:spLocks noGrp="1"/>
          </p:cNvSpPr>
          <p:nvPr/>
        </p:nvSpPr>
        <p:spPr>
          <a:xfrm>
            <a:off x="8724900" y="2667000"/>
            <a:ext cx="381000" cy="3175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 algn="ctr">
              <a:buNone/>
              <a:defRPr>
                <a:solidFill>
                  <a:srgbClr val="2DD4BF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→</a:t>
            </a:r>
          </a:p>
        </p:txBody>
      </p:sp>
      <p:sp>
        <p:nvSpPr>
          <p:cNvPr id="414" name="矩形"/>
          <p:cNvSpPr>
            <a:spLocks noGrp="1"/>
          </p:cNvSpPr>
          <p:nvPr/>
        </p:nvSpPr>
        <p:spPr>
          <a:xfrm>
            <a:off x="9105900" y="2266950"/>
            <a:ext cx="1676400" cy="1104900"/>
          </a:xfrm>
          <a:prstGeom prst="rect">
            <a:avLst/>
          </a:prstGeom>
          <a:solidFill>
            <a:srgbClr val="0B1E36"/>
          </a:solidFill>
          <a:ln>
            <a:solidFill>
              <a:srgbClr val="254D70"/>
            </a:solidFill>
          </a:ln>
        </p:spPr>
        <p:txBody>
          <a:bodyPr lIns="0" tIns="0" rIns="0" bIns="0"/>
          <a:lstStyle/>
          <a:p/>
        </p:txBody>
      </p:sp>
      <p:sp>
        <p:nvSpPr>
          <p:cNvPr id="415" name="矩形"/>
          <p:cNvSpPr>
            <a:spLocks noGrp="1"/>
          </p:cNvSpPr>
          <p:nvPr/>
        </p:nvSpPr>
        <p:spPr>
          <a:xfrm>
            <a:off x="9277350" y="24384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300">
                <a:solidFill>
                  <a:srgbClr val="A8B3C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416" name="05"/>
          <p:cNvSpPr>
            <a:spLocks noGrp="1"/>
          </p:cNvSpPr>
          <p:nvPr/>
        </p:nvSpPr>
        <p:spPr>
          <a:xfrm>
            <a:off x="9277350" y="2438400"/>
            <a:ext cx="40005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300">
                <a:solidFill>
                  <a:srgbClr val="A8B3C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05</a:t>
            </a:r>
          </a:p>
        </p:txBody>
      </p:sp>
      <p:sp>
        <p:nvSpPr>
          <p:cNvPr id="418" name="矩形"/>
          <p:cNvSpPr>
            <a:spLocks noGrp="1"/>
          </p:cNvSpPr>
          <p:nvPr/>
        </p:nvSpPr>
        <p:spPr>
          <a:xfrm>
            <a:off x="9277350" y="272415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4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419" name="完成反馈"/>
          <p:cNvSpPr>
            <a:spLocks noGrp="1"/>
          </p:cNvSpPr>
          <p:nvPr/>
        </p:nvSpPr>
        <p:spPr>
          <a:xfrm>
            <a:off x="9277350" y="2724150"/>
            <a:ext cx="1333500" cy="254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4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完成反馈</a:t>
            </a:r>
          </a:p>
        </p:txBody>
      </p:sp>
      <p:sp>
        <p:nvSpPr>
          <p:cNvPr id="421" name="矩形"/>
          <p:cNvSpPr>
            <a:spLocks noGrp="1"/>
          </p:cNvSpPr>
          <p:nvPr/>
        </p:nvSpPr>
        <p:spPr>
          <a:xfrm>
            <a:off x="9277350" y="2990850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422" name="积分 + 成就 + 统计"/>
          <p:cNvSpPr>
            <a:spLocks noGrp="1"/>
          </p:cNvSpPr>
          <p:nvPr/>
        </p:nvSpPr>
        <p:spPr>
          <a:xfrm>
            <a:off x="9277350" y="2990850"/>
            <a:ext cx="1333500" cy="165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积分 + 成就 + 统计</a:t>
            </a:r>
          </a:p>
        </p:txBody>
      </p:sp>
      <p:sp>
        <p:nvSpPr>
          <p:cNvPr id="424" name="矩形"/>
          <p:cNvSpPr>
            <a:spLocks noGrp="1"/>
          </p:cNvSpPr>
          <p:nvPr/>
        </p:nvSpPr>
        <p:spPr>
          <a:xfrm>
            <a:off x="857250" y="4160837"/>
            <a:ext cx="2838450" cy="1104901"/>
          </a:xfrm>
          <a:prstGeom prst="rect">
            <a:avLst/>
          </a:prstGeom>
          <a:solidFill>
            <a:srgbClr val="101B2E"/>
          </a:solidFill>
          <a:ln>
            <a:solidFill>
              <a:srgbClr val="334155"/>
            </a:solidFill>
          </a:ln>
        </p:spPr>
        <p:txBody>
          <a:bodyPr lIns="0" tIns="0" rIns="0" bIns="0"/>
          <a:lstStyle/>
          <a:p/>
        </p:txBody>
      </p:sp>
      <p:sp>
        <p:nvSpPr>
          <p:cNvPr id="425" name="矩形"/>
          <p:cNvSpPr>
            <a:spLocks noGrp="1"/>
          </p:cNvSpPr>
          <p:nvPr/>
        </p:nvSpPr>
        <p:spPr>
          <a:xfrm>
            <a:off x="1104900" y="42100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2DD4B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426" name="模型训练"/>
          <p:cNvSpPr>
            <a:spLocks noGrp="1"/>
          </p:cNvSpPr>
          <p:nvPr/>
        </p:nvSpPr>
        <p:spPr>
          <a:xfrm>
            <a:off x="1104900" y="4210050"/>
            <a:ext cx="1143000" cy="266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500">
                <a:solidFill>
                  <a:srgbClr val="2DD4B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模型训练</a:t>
            </a:r>
          </a:p>
        </p:txBody>
      </p:sp>
      <p:sp>
        <p:nvSpPr>
          <p:cNvPr id="428" name="矩形"/>
          <p:cNvSpPr>
            <a:spLocks noGrp="1"/>
          </p:cNvSpPr>
          <p:nvPr/>
        </p:nvSpPr>
        <p:spPr>
          <a:xfrm>
            <a:off x="1104900" y="4552950"/>
            <a:ext cx="22098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100">
                <a:solidFill>
                  <a:srgbClr val="F8FAFC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429" name="Pipeline + OneHotEncoder…"/>
          <p:cNvSpPr>
            <a:spLocks noGrp="1"/>
          </p:cNvSpPr>
          <p:nvPr/>
        </p:nvSpPr>
        <p:spPr>
          <a:xfrm>
            <a:off x="1104900" y="4552950"/>
            <a:ext cx="2209800" cy="609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/>
          <a:p>
            <a:pPr>
              <a:buNone/>
              <a:defRPr sz="1100">
                <a:solidFill>
                  <a:srgbClr val="F8FAFC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  <a:r>
              <a:t>Pipeline + OneHotEncoder</a:t>
            </a:r>
          </a:p>
          <a:p>
            <a:pPr>
              <a:buNone/>
              <a:defRPr sz="1100">
                <a:solidFill>
                  <a:srgbClr val="F8FAFC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  <a:r>
              <a:t>RandomForestClassifier</a:t>
            </a:r>
          </a:p>
          <a:p>
            <a:pPr>
              <a:buNone/>
              <a:defRPr sz="1100">
                <a:solidFill>
                  <a:srgbClr val="F8FAFC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  <a:r>
              <a:t>800 条样本训练</a:t>
            </a:r>
          </a:p>
        </p:txBody>
      </p:sp>
      <p:sp>
        <p:nvSpPr>
          <p:cNvPr id="431" name="矩形"/>
          <p:cNvSpPr>
            <a:spLocks noGrp="1"/>
          </p:cNvSpPr>
          <p:nvPr/>
        </p:nvSpPr>
        <p:spPr>
          <a:xfrm>
            <a:off x="4095750" y="4106862"/>
            <a:ext cx="2838450" cy="1104901"/>
          </a:xfrm>
          <a:prstGeom prst="rect">
            <a:avLst/>
          </a:prstGeom>
          <a:solidFill>
            <a:srgbClr val="101B2E"/>
          </a:solidFill>
          <a:ln>
            <a:solidFill>
              <a:srgbClr val="334155"/>
            </a:solidFill>
          </a:ln>
        </p:spPr>
        <p:txBody>
          <a:bodyPr lIns="0" tIns="0" rIns="0" bIns="0"/>
          <a:lstStyle/>
          <a:p/>
        </p:txBody>
      </p:sp>
      <p:sp>
        <p:nvSpPr>
          <p:cNvPr id="432" name="矩形"/>
          <p:cNvSpPr>
            <a:spLocks noGrp="1"/>
          </p:cNvSpPr>
          <p:nvPr/>
        </p:nvSpPr>
        <p:spPr>
          <a:xfrm>
            <a:off x="4343400" y="42100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8B5CF6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433" name="可解释校准"/>
          <p:cNvSpPr>
            <a:spLocks noGrp="1"/>
          </p:cNvSpPr>
          <p:nvPr/>
        </p:nvSpPr>
        <p:spPr>
          <a:xfrm>
            <a:off x="4343400" y="4210050"/>
            <a:ext cx="1238250" cy="266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500">
                <a:solidFill>
                  <a:srgbClr val="8B5CF6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可解释校准</a:t>
            </a:r>
          </a:p>
        </p:txBody>
      </p:sp>
      <p:sp>
        <p:nvSpPr>
          <p:cNvPr id="435" name="矩形"/>
          <p:cNvSpPr>
            <a:spLocks noGrp="1"/>
          </p:cNvSpPr>
          <p:nvPr/>
        </p:nvSpPr>
        <p:spPr>
          <a:xfrm>
            <a:off x="4343400" y="4552950"/>
            <a:ext cx="22098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100">
                <a:solidFill>
                  <a:srgbClr val="F8FAFC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436" name="压力评分 + 分级阈值…"/>
          <p:cNvSpPr>
            <a:spLocks noGrp="1"/>
          </p:cNvSpPr>
          <p:nvPr/>
        </p:nvSpPr>
        <p:spPr>
          <a:xfrm>
            <a:off x="4343400" y="4552950"/>
            <a:ext cx="2209800" cy="609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/>
          <a:p>
            <a:pPr>
              <a:buNone/>
              <a:defRPr sz="1100">
                <a:solidFill>
                  <a:srgbClr val="F8FAFC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  <a:r>
              <a:t>压力评分 + 分级阈值</a:t>
            </a:r>
          </a:p>
          <a:p>
            <a:pPr>
              <a:buNone/>
              <a:defRPr sz="1100">
                <a:solidFill>
                  <a:srgbClr val="F8FAFC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  <a:r>
              <a:t>结合 DDL / 耗时 / 难度</a:t>
            </a:r>
          </a:p>
          <a:p>
            <a:pPr>
              <a:buNone/>
              <a:defRPr sz="1100">
                <a:solidFill>
                  <a:srgbClr val="F8FAFC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  <a:r>
              <a:t>生成推荐理由</a:t>
            </a:r>
          </a:p>
        </p:txBody>
      </p:sp>
      <p:sp>
        <p:nvSpPr>
          <p:cNvPr id="438" name="矩形"/>
          <p:cNvSpPr>
            <a:spLocks noGrp="1"/>
          </p:cNvSpPr>
          <p:nvPr/>
        </p:nvSpPr>
        <p:spPr>
          <a:xfrm>
            <a:off x="7334250" y="4106862"/>
            <a:ext cx="2838450" cy="1104901"/>
          </a:xfrm>
          <a:prstGeom prst="rect">
            <a:avLst/>
          </a:prstGeom>
          <a:solidFill>
            <a:srgbClr val="101B2E"/>
          </a:solidFill>
          <a:ln>
            <a:solidFill>
              <a:srgbClr val="334155"/>
            </a:solidFill>
          </a:ln>
        </p:spPr>
        <p:txBody>
          <a:bodyPr lIns="0" tIns="0" rIns="0" bIns="0"/>
          <a:lstStyle/>
          <a:p/>
        </p:txBody>
      </p:sp>
      <p:sp>
        <p:nvSpPr>
          <p:cNvPr id="439" name="矩形"/>
          <p:cNvSpPr>
            <a:spLocks noGrp="1"/>
          </p:cNvSpPr>
          <p:nvPr/>
        </p:nvSpPr>
        <p:spPr>
          <a:xfrm>
            <a:off x="7581900" y="42100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500">
                <a:solidFill>
                  <a:srgbClr val="F59E0B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440" name="业务闭环"/>
          <p:cNvSpPr>
            <a:spLocks noGrp="1"/>
          </p:cNvSpPr>
          <p:nvPr/>
        </p:nvSpPr>
        <p:spPr>
          <a:xfrm>
            <a:off x="7581900" y="4210050"/>
            <a:ext cx="1143000" cy="266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1500">
                <a:solidFill>
                  <a:srgbClr val="F59E0B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lvl1pPr>
          </a:lstStyle>
          <a:p>
            <a:r>
              <a:t>业务闭环</a:t>
            </a:r>
          </a:p>
        </p:txBody>
      </p:sp>
      <p:sp>
        <p:nvSpPr>
          <p:cNvPr id="442" name="矩形"/>
          <p:cNvSpPr>
            <a:spLocks noGrp="1"/>
          </p:cNvSpPr>
          <p:nvPr/>
        </p:nvSpPr>
        <p:spPr>
          <a:xfrm>
            <a:off x="7581900" y="4552950"/>
            <a:ext cx="22098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1100">
                <a:solidFill>
                  <a:srgbClr val="F8FAFC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443" name="保存任务状态…"/>
          <p:cNvSpPr>
            <a:spLocks noGrp="1"/>
          </p:cNvSpPr>
          <p:nvPr/>
        </p:nvSpPr>
        <p:spPr>
          <a:xfrm>
            <a:off x="7581900" y="4552950"/>
            <a:ext cx="2209800" cy="609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/>
          <a:p>
            <a:pPr>
              <a:buNone/>
              <a:defRPr sz="1100">
                <a:solidFill>
                  <a:srgbClr val="F8FAFC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  <a:r>
              <a:t>保存任务状态</a:t>
            </a:r>
          </a:p>
          <a:p>
            <a:pPr>
              <a:buNone/>
              <a:defRPr sz="1100">
                <a:solidFill>
                  <a:srgbClr val="F8FAFC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  <a:r>
              <a:t>完成后计算积分</a:t>
            </a:r>
          </a:p>
          <a:p>
            <a:pPr>
              <a:buNone/>
              <a:defRPr sz="1100">
                <a:solidFill>
                  <a:srgbClr val="F8FAFC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  <a:r>
              <a:t>更新 user_stats.json</a:t>
            </a:r>
          </a:p>
        </p:txBody>
      </p:sp>
      <p:sp>
        <p:nvSpPr>
          <p:cNvPr id="445" name="矩形"/>
          <p:cNvSpPr>
            <a:spLocks noGrp="1"/>
          </p:cNvSpPr>
          <p:nvPr/>
        </p:nvSpPr>
        <p:spPr>
          <a:xfrm>
            <a:off x="857250" y="5410200"/>
            <a:ext cx="1428750" cy="819150"/>
          </a:xfrm>
          <a:prstGeom prst="rect">
            <a:avLst/>
          </a:prstGeom>
          <a:solidFill>
            <a:srgbClr val="0A1B33"/>
          </a:solidFill>
          <a:ln>
            <a:solidFill>
              <a:srgbClr val="1E3A5F"/>
            </a:solidFill>
          </a:ln>
        </p:spPr>
        <p:txBody>
          <a:bodyPr lIns="0" tIns="0" rIns="0" bIns="0"/>
          <a:lstStyle/>
          <a:p/>
        </p:txBody>
      </p:sp>
      <p:sp>
        <p:nvSpPr>
          <p:cNvPr id="446" name="矩形"/>
          <p:cNvSpPr>
            <a:spLocks noGrp="1"/>
          </p:cNvSpPr>
          <p:nvPr/>
        </p:nvSpPr>
        <p:spPr>
          <a:xfrm>
            <a:off x="1009650" y="5505450"/>
            <a:ext cx="1123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447" name="0.88"/>
          <p:cNvSpPr>
            <a:spLocks noGrp="1"/>
          </p:cNvSpPr>
          <p:nvPr/>
        </p:nvSpPr>
        <p:spPr>
          <a:xfrm>
            <a:off x="1009650" y="5505450"/>
            <a:ext cx="1123950" cy="3175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2100" b="1">
                <a:solidFill>
                  <a:srgbClr val="2DD4BF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r>
              <a:t>0.88</a:t>
            </a:r>
          </a:p>
        </p:txBody>
      </p:sp>
      <p:sp>
        <p:nvSpPr>
          <p:cNvPr id="449" name="矩形"/>
          <p:cNvSpPr>
            <a:spLocks noGrp="1"/>
          </p:cNvSpPr>
          <p:nvPr/>
        </p:nvSpPr>
        <p:spPr>
          <a:xfrm>
            <a:off x="1009650" y="5924550"/>
            <a:ext cx="112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450" name="模型测试准确率"/>
          <p:cNvSpPr>
            <a:spLocks noGrp="1"/>
          </p:cNvSpPr>
          <p:nvPr/>
        </p:nvSpPr>
        <p:spPr>
          <a:xfrm>
            <a:off x="1009650" y="5924550"/>
            <a:ext cx="1123950" cy="165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模型测试准确率</a:t>
            </a:r>
          </a:p>
        </p:txBody>
      </p:sp>
      <p:sp>
        <p:nvSpPr>
          <p:cNvPr id="452" name="矩形"/>
          <p:cNvSpPr>
            <a:spLocks noGrp="1"/>
          </p:cNvSpPr>
          <p:nvPr/>
        </p:nvSpPr>
        <p:spPr>
          <a:xfrm>
            <a:off x="2514600" y="5410200"/>
            <a:ext cx="1428750" cy="819150"/>
          </a:xfrm>
          <a:prstGeom prst="rect">
            <a:avLst/>
          </a:prstGeom>
          <a:solidFill>
            <a:srgbClr val="0A1B33"/>
          </a:solidFill>
          <a:ln>
            <a:solidFill>
              <a:srgbClr val="1E3A5F"/>
            </a:solidFill>
          </a:ln>
        </p:spPr>
        <p:txBody>
          <a:bodyPr lIns="0" tIns="0" rIns="0" bIns="0"/>
          <a:lstStyle/>
          <a:p/>
        </p:txBody>
      </p:sp>
      <p:sp>
        <p:nvSpPr>
          <p:cNvPr id="453" name="矩形"/>
          <p:cNvSpPr>
            <a:spLocks noGrp="1"/>
          </p:cNvSpPr>
          <p:nvPr/>
        </p:nvSpPr>
        <p:spPr>
          <a:xfrm>
            <a:off x="2667000" y="5505450"/>
            <a:ext cx="1123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454" name="5级"/>
          <p:cNvSpPr>
            <a:spLocks noGrp="1"/>
          </p:cNvSpPr>
          <p:nvPr/>
        </p:nvSpPr>
        <p:spPr>
          <a:xfrm>
            <a:off x="2667000" y="5505450"/>
            <a:ext cx="1123950" cy="3683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2100" b="1">
                <a:solidFill>
                  <a:srgbClr val="8B5CF6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r>
              <a:t>5级</a:t>
            </a:r>
          </a:p>
        </p:txBody>
      </p:sp>
      <p:sp>
        <p:nvSpPr>
          <p:cNvPr id="456" name="矩形"/>
          <p:cNvSpPr>
            <a:spLocks noGrp="1"/>
          </p:cNvSpPr>
          <p:nvPr/>
        </p:nvSpPr>
        <p:spPr>
          <a:xfrm>
            <a:off x="2667000" y="5924550"/>
            <a:ext cx="112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457" name="优先级体系"/>
          <p:cNvSpPr>
            <a:spLocks noGrp="1"/>
          </p:cNvSpPr>
          <p:nvPr/>
        </p:nvSpPr>
        <p:spPr>
          <a:xfrm>
            <a:off x="2667000" y="5924550"/>
            <a:ext cx="1123950" cy="165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优先级体系</a:t>
            </a:r>
          </a:p>
        </p:txBody>
      </p:sp>
      <p:sp>
        <p:nvSpPr>
          <p:cNvPr id="459" name="矩形"/>
          <p:cNvSpPr>
            <a:spLocks noGrp="1"/>
          </p:cNvSpPr>
          <p:nvPr/>
        </p:nvSpPr>
        <p:spPr>
          <a:xfrm>
            <a:off x="4171950" y="5410200"/>
            <a:ext cx="1428750" cy="819150"/>
          </a:xfrm>
          <a:prstGeom prst="rect">
            <a:avLst/>
          </a:prstGeom>
          <a:solidFill>
            <a:srgbClr val="0A1B33"/>
          </a:solidFill>
          <a:ln>
            <a:solidFill>
              <a:srgbClr val="1E3A5F"/>
            </a:solidFill>
          </a:ln>
        </p:spPr>
        <p:txBody>
          <a:bodyPr lIns="0" tIns="0" rIns="0" bIns="0"/>
          <a:lstStyle/>
          <a:p/>
        </p:txBody>
      </p:sp>
      <p:sp>
        <p:nvSpPr>
          <p:cNvPr id="460" name="矩形"/>
          <p:cNvSpPr>
            <a:spLocks noGrp="1"/>
          </p:cNvSpPr>
          <p:nvPr/>
        </p:nvSpPr>
        <p:spPr>
          <a:xfrm>
            <a:off x="4324350" y="5505450"/>
            <a:ext cx="1123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21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461" name="2015"/>
          <p:cNvSpPr>
            <a:spLocks noGrp="1"/>
          </p:cNvSpPr>
          <p:nvPr/>
        </p:nvSpPr>
        <p:spPr>
          <a:xfrm>
            <a:off x="4324350" y="5505450"/>
            <a:ext cx="1123950" cy="3175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21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lvl1pPr>
          </a:lstStyle>
          <a:p>
            <a:r>
              <a:t>2015</a:t>
            </a:r>
          </a:p>
        </p:txBody>
      </p:sp>
      <p:sp>
        <p:nvSpPr>
          <p:cNvPr id="463" name="矩形"/>
          <p:cNvSpPr>
            <a:spLocks noGrp="1"/>
          </p:cNvSpPr>
          <p:nvPr/>
        </p:nvSpPr>
        <p:spPr>
          <a:xfrm>
            <a:off x="4324350" y="5924550"/>
            <a:ext cx="1123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464" name="累计积分样例"/>
          <p:cNvSpPr>
            <a:spLocks noGrp="1"/>
          </p:cNvSpPr>
          <p:nvPr/>
        </p:nvSpPr>
        <p:spPr>
          <a:xfrm>
            <a:off x="4324350" y="5924550"/>
            <a:ext cx="1123950" cy="1651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900">
                <a:solidFill>
                  <a:srgbClr val="A8B3C7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累计积分样例</a:t>
            </a:r>
          </a:p>
        </p:txBody>
      </p:sp>
      <p:sp>
        <p:nvSpPr>
          <p:cNvPr id="466" name="矩形"/>
          <p:cNvSpPr>
            <a:spLocks noGrp="1"/>
          </p:cNvSpPr>
          <p:nvPr/>
        </p:nvSpPr>
        <p:spPr>
          <a:xfrm>
            <a:off x="666750" y="6448425"/>
            <a:ext cx="7620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700">
                <a:solidFill>
                  <a:srgbClr val="7F8EA8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467" name="Source: model.py, priority.py, storage.py, app.py, data/user_stats.json"/>
          <p:cNvSpPr>
            <a:spLocks noGrp="1"/>
          </p:cNvSpPr>
          <p:nvPr/>
        </p:nvSpPr>
        <p:spPr>
          <a:xfrm>
            <a:off x="666750" y="6448425"/>
            <a:ext cx="7620000" cy="127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700">
                <a:solidFill>
                  <a:srgbClr val="7F8EA8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Source: model.py, priority.py, storage.py, app.py, data/user_stats.json</a:t>
            </a:r>
          </a:p>
        </p:txBody>
      </p:sp>
      <p:sp>
        <p:nvSpPr>
          <p:cNvPr id="469" name="矩形"/>
          <p:cNvSpPr>
            <a:spLocks noGrp="1"/>
          </p:cNvSpPr>
          <p:nvPr/>
        </p:nvSpPr>
        <p:spPr>
          <a:xfrm>
            <a:off x="11106150" y="6429375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900" b="1">
                <a:solidFill>
                  <a:srgbClr val="7F8EA8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470" name="05"/>
          <p:cNvSpPr>
            <a:spLocks noGrp="1"/>
          </p:cNvSpPr>
          <p:nvPr/>
        </p:nvSpPr>
        <p:spPr>
          <a:xfrm>
            <a:off x="11106150" y="6429375"/>
            <a:ext cx="419100" cy="139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 algn="r">
              <a:buNone/>
              <a:defRPr sz="900" b="1">
                <a:solidFill>
                  <a:srgbClr val="7F8EA8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5" name="矩形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426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476" name="矩形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629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477" name="矩形"/>
          <p:cNvSpPr>
            <a:spLocks noGrp="1"/>
          </p:cNvSpPr>
          <p:nvPr/>
        </p:nvSpPr>
        <p:spPr>
          <a:xfrm>
            <a:off x="1524000" y="1560512"/>
            <a:ext cx="9144000" cy="12701"/>
          </a:xfrm>
          <a:prstGeom prst="rect">
            <a:avLst/>
          </a:prstGeom>
          <a:solidFill>
            <a:srgbClr val="1E3A5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478" name="矩形"/>
          <p:cNvSpPr>
            <a:spLocks noGrp="1"/>
          </p:cNvSpPr>
          <p:nvPr/>
        </p:nvSpPr>
        <p:spPr>
          <a:xfrm>
            <a:off x="1524000" y="5294312"/>
            <a:ext cx="9144000" cy="12701"/>
          </a:xfrm>
          <a:prstGeom prst="rect">
            <a:avLst/>
          </a:prstGeom>
          <a:solidFill>
            <a:srgbClr val="1E3A5F"/>
          </a:solidFill>
          <a:ln w="3175">
            <a:solidFill>
              <a:srgbClr val="000000">
                <a:alpha val="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479" name="矩形"/>
          <p:cNvSpPr>
            <a:spLocks noGrp="1"/>
          </p:cNvSpPr>
          <p:nvPr/>
        </p:nvSpPr>
        <p:spPr>
          <a:xfrm>
            <a:off x="2000250" y="2457450"/>
            <a:ext cx="81915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33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</a:p>
        </p:txBody>
      </p:sp>
      <p:sp>
        <p:nvSpPr>
          <p:cNvPr id="480" name="Campilot 让 AI 从“模型结果”…"/>
          <p:cNvSpPr>
            <a:spLocks noGrp="1"/>
          </p:cNvSpPr>
          <p:nvPr/>
        </p:nvSpPr>
        <p:spPr>
          <a:xfrm>
            <a:off x="2000250" y="2457450"/>
            <a:ext cx="8191500" cy="1168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buNone/>
              <a:defRPr sz="33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t>Campilot 让 AI 从“模型结果”</a:t>
            </a:r>
          </a:p>
          <a:p>
            <a:pPr algn="ctr">
              <a:buNone/>
              <a:defRPr sz="3300">
                <a:solidFill>
                  <a:srgbClr val="F8FAFC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t>进入真实学习场景。</a:t>
            </a:r>
          </a:p>
        </p:txBody>
      </p:sp>
      <p:sp>
        <p:nvSpPr>
          <p:cNvPr id="482" name="矩形"/>
          <p:cNvSpPr>
            <a:spLocks noGrp="1"/>
          </p:cNvSpPr>
          <p:nvPr/>
        </p:nvSpPr>
        <p:spPr>
          <a:xfrm>
            <a:off x="4953000" y="4076700"/>
            <a:ext cx="228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600">
                <a:solidFill>
                  <a:srgbClr val="2DD4BF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pPr>
          </a:p>
        </p:txBody>
      </p:sp>
      <p:sp>
        <p:nvSpPr>
          <p:cNvPr id="483" name="谢谢老师"/>
          <p:cNvSpPr>
            <a:spLocks noGrp="1"/>
          </p:cNvSpPr>
          <p:nvPr/>
        </p:nvSpPr>
        <p:spPr>
          <a:xfrm>
            <a:off x="4953000" y="4076700"/>
            <a:ext cx="2286000" cy="279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 algn="ctr">
              <a:buNone/>
              <a:defRPr sz="1600">
                <a:solidFill>
                  <a:srgbClr val="2DD4BF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defRPr>
            </a:lvl1pPr>
          </a:lstStyle>
          <a:p>
            <a:r>
              <a:t>谢谢老师</a:t>
            </a:r>
          </a:p>
        </p:txBody>
      </p:sp>
      <p:sp>
        <p:nvSpPr>
          <p:cNvPr id="485" name="矩形"/>
          <p:cNvSpPr>
            <a:spLocks noGrp="1"/>
          </p:cNvSpPr>
          <p:nvPr/>
        </p:nvSpPr>
        <p:spPr>
          <a:xfrm>
            <a:off x="666750" y="6448425"/>
            <a:ext cx="7620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buNone/>
              <a:defRPr sz="700">
                <a:solidFill>
                  <a:srgbClr val="7F8EA8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486" name="Campilot final defense closing"/>
          <p:cNvSpPr>
            <a:spLocks noGrp="1"/>
          </p:cNvSpPr>
          <p:nvPr/>
        </p:nvSpPr>
        <p:spPr>
          <a:xfrm>
            <a:off x="666750" y="6448425"/>
            <a:ext cx="7620000" cy="1270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>
              <a:buNone/>
              <a:defRPr sz="700">
                <a:solidFill>
                  <a:srgbClr val="7F8EA8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Campilot final defense closing</a:t>
            </a:r>
          </a:p>
        </p:txBody>
      </p:sp>
      <p:sp>
        <p:nvSpPr>
          <p:cNvPr id="488" name="矩形"/>
          <p:cNvSpPr>
            <a:spLocks noGrp="1"/>
          </p:cNvSpPr>
          <p:nvPr/>
        </p:nvSpPr>
        <p:spPr>
          <a:xfrm>
            <a:off x="11106150" y="6429375"/>
            <a:ext cx="41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3175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900" b="1">
                <a:solidFill>
                  <a:srgbClr val="7F8EA8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489" name="06"/>
          <p:cNvSpPr>
            <a:spLocks noGrp="1"/>
          </p:cNvSpPr>
          <p:nvPr/>
        </p:nvSpPr>
        <p:spPr>
          <a:xfrm>
            <a:off x="11106150" y="6429375"/>
            <a:ext cx="419100" cy="1397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anchor="t">
            <a:spAutoFit/>
          </a:bodyPr>
          <a:lstStyle>
            <a:lvl1pPr algn="r">
              <a:buNone/>
              <a:defRPr sz="900" b="1">
                <a:solidFill>
                  <a:srgbClr val="7F8EA8"/>
                </a:solidFill>
                <a:latin typeface="Aptos"/>
                <a:ea typeface="Aptos"/>
                <a:cs typeface="Aptos"/>
              </a:defRPr>
            </a:lvl1pPr>
          </a:lstStyle>
          <a:p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1394</Words>
  <Application>WPS 文字</Application>
  <PresentationFormat>Converted Presentation</PresentationFormat>
  <Paragraphs>245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5" baseType="lpstr">
      <vt:lpstr>Arial</vt:lpstr>
      <vt:lpstr>宋体</vt:lpstr>
      <vt:lpstr>Wingdings</vt:lpstr>
      <vt:lpstr>Calibri Light</vt:lpstr>
      <vt:lpstr>Helvetica Neue</vt:lpstr>
      <vt:lpstr>Calibri</vt:lpstr>
      <vt:lpstr>Aptos</vt:lpstr>
      <vt:lpstr>PingFang SC Semibold</vt:lpstr>
      <vt:lpstr>PingFang SC Regular</vt:lpstr>
      <vt:lpstr>Aptos Display</vt:lpstr>
      <vt:lpstr>PingFang SC</vt:lpstr>
      <vt:lpstr>微软雅黑</vt:lpstr>
      <vt:lpstr>汉仪旗黑</vt:lpstr>
      <vt:lpstr>宋体</vt:lpstr>
      <vt:lpstr>Arial Unicode MS</vt:lpstr>
      <vt:lpstr>汉仪书宋二KW</vt:lpstr>
      <vt:lpstr>Aptos</vt:lpstr>
      <vt:lpstr>Aptos Display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WPS_1774874887</cp:lastModifiedBy>
  <cp:revision>1</cp:revision>
  <dcterms:created xsi:type="dcterms:W3CDTF">2026-05-22T06:28:10Z</dcterms:created>
  <dcterms:modified xsi:type="dcterms:W3CDTF">2026-05-22T06:28:10Z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18786A1787B83AB67AF70F6A9DAA4A36_42</vt:lpwstr>
  </property>
  <property fmtid="{D5CDD505-2E9C-101B-9397-08002B2CF9AE}" pid="3" name="KSOProductBuildVer">
    <vt:lpwstr>2052-12.1.25867.25867</vt:lpwstr>
  </property>
</Properties>
</file>